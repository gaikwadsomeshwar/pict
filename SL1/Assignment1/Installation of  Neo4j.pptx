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63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7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82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57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69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31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73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53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1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3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89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F43FD-02C5-4EAC-AC7E-C0B59EF75B19}" type="datetimeFigureOut">
              <a:rPr lang="en-IN" smtClean="0"/>
              <a:t>06-08-2020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8F96A-D63F-4AAA-B3D5-69370439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18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eo4j.com/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7474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quackit.com/pix/neo4j/tutorial/neo4j_launcher.png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localhost:7474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quackit.com/pix/neo4j/tutorial/neo4j_installation_1.pn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www.quackit.com/pix/neo4j/tutorial/neo4j_installation_2.p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quackit.com/pix/neo4j/tutorial/neo4j_installation_3.png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quackit.com/sql/tutorial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Installation of  Neo4j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0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6189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5131934"/>
          </a:xfrm>
        </p:spPr>
        <p:txBody>
          <a:bodyPr>
            <a:normAutofit/>
          </a:bodyPr>
          <a:lstStyle/>
          <a:p>
            <a:r>
              <a:rPr lang="en-US" dirty="0"/>
              <a:t>Download Neo4j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First, download a copy of Neo4j from the </a:t>
            </a:r>
            <a:r>
              <a:rPr lang="en-US" sz="2400" dirty="0">
                <a:hlinkClick r:id="rId2"/>
              </a:rPr>
              <a:t>Neo4j download page</a:t>
            </a:r>
            <a:r>
              <a:rPr lang="en-US" sz="2400" dirty="0"/>
              <a:t>. You can choose from either a free Enterprise Trial, or the free Community Edition.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This tutorial uses the Community Edition.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To download, simply click the Download button. Your download should start automatically.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Install Neo4j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Once </a:t>
            </a:r>
            <a:r>
              <a:rPr lang="en-US" sz="2400" dirty="0"/>
              <a:t>the file has downloaded, you can install Neo4j.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 The </a:t>
            </a:r>
            <a:r>
              <a:rPr lang="en-US" sz="2400" dirty="0"/>
              <a:t>download screen includes step by step instructions on installing </a:t>
            </a:r>
            <a:r>
              <a:rPr lang="en-US" sz="2400" dirty="0" smtClean="0"/>
              <a:t>Neo4j on </a:t>
            </a:r>
            <a:r>
              <a:rPr lang="en-US" sz="2400" dirty="0"/>
              <a:t>to your operating system.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40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Windows(exe)</a:t>
            </a:r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60119" y="1302932"/>
            <a:ext cx="9847217" cy="4452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20313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41484D"/>
              </a:solidFill>
              <a:effectLst/>
              <a:latin typeface="Source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Launch the installer you just downloaded. You might have to give the installer permission to make changes to your computer.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Source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Follow the prompts, and choose the option to Run Neo4j.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Source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Click on the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Unicode MS"/>
              </a:rPr>
              <a:t>Start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 button to start the Neo4j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Source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Open the provided URL in your local web browser.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Source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Change the password for the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Unicode MS"/>
              </a:rPr>
              <a:t>neo4j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 account.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9458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6623"/>
          </a:xfrm>
        </p:spPr>
        <p:txBody>
          <a:bodyPr>
            <a:normAutofit/>
          </a:bodyPr>
          <a:lstStyle/>
          <a:p>
            <a:r>
              <a:rPr lang="en-IN" dirty="0" smtClean="0"/>
              <a:t>Linux/UNIX Install (tar)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8503"/>
            <a:ext cx="10515600" cy="3553097"/>
          </a:xfrm>
        </p:spPr>
        <p:txBody>
          <a:bodyPr>
            <a:normAutofit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sz="2400" dirty="0" smtClean="0"/>
              <a:t>Open </a:t>
            </a:r>
            <a:r>
              <a:rPr lang="en-IN" sz="2400" dirty="0"/>
              <a:t>up your terminal/shell.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/>
              <a:t>Extract the contents of the archive, using: tar -</a:t>
            </a:r>
            <a:r>
              <a:rPr lang="en-IN" sz="2400" dirty="0" err="1"/>
              <a:t>xf</a:t>
            </a:r>
            <a:r>
              <a:rPr lang="en-IN" sz="2400" dirty="0"/>
              <a:t>  &lt;</a:t>
            </a:r>
            <a:r>
              <a:rPr lang="en-IN" sz="2400" dirty="0" err="1"/>
              <a:t>filecode</a:t>
            </a:r>
            <a:r>
              <a:rPr lang="en-IN" sz="2400" dirty="0" smtClean="0"/>
              <a:t>&gt;.</a:t>
            </a:r>
          </a:p>
          <a:p>
            <a:pPr marL="0" lvl="0" indent="0">
              <a:buNone/>
            </a:pPr>
            <a:r>
              <a:rPr lang="en-IN" sz="2400" dirty="0" smtClean="0"/>
              <a:t>For </a:t>
            </a:r>
            <a:r>
              <a:rPr lang="en-IN" sz="2400" dirty="0"/>
              <a:t>example,</a:t>
            </a:r>
            <a:br>
              <a:rPr lang="en-IN" sz="2400" dirty="0"/>
            </a:br>
            <a:r>
              <a:rPr lang="en-IN" sz="2400" dirty="0" smtClean="0"/>
              <a:t>	tar </a:t>
            </a:r>
            <a:r>
              <a:rPr lang="en-IN" sz="2400" dirty="0"/>
              <a:t>-</a:t>
            </a:r>
            <a:r>
              <a:rPr lang="en-IN" sz="2400" dirty="0" err="1"/>
              <a:t>xf</a:t>
            </a:r>
            <a:r>
              <a:rPr lang="en-IN" sz="2400" dirty="0"/>
              <a:t> neo4j-enterprise-2.3.1-unix.tar.gz  the top level directory is referred </a:t>
            </a:r>
            <a:r>
              <a:rPr lang="en-IN" sz="2400" dirty="0" smtClean="0"/>
              <a:t>	to </a:t>
            </a:r>
            <a:r>
              <a:rPr lang="en-IN" sz="2400" dirty="0"/>
              <a:t>as NEO4J_HOME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/>
              <a:t>Run Neo4j using $NEO4J_HOME/bin/neo4j console. Instead of ‘neo4j console’, you can use neo4j start to start the server process in the background.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/>
              <a:t>Visit </a:t>
            </a:r>
            <a:r>
              <a:rPr lang="en-IN" sz="2400" dirty="0">
                <a:hlinkClick r:id="rId2"/>
              </a:rPr>
              <a:t>http://localhost:7474</a:t>
            </a:r>
            <a:r>
              <a:rPr lang="en-IN" sz="2400" dirty="0"/>
              <a:t> in your web browser.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400" dirty="0"/>
              <a:t>Change the password for the neo4j account.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2007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731" y="304838"/>
            <a:ext cx="10515600" cy="1325563"/>
          </a:xfrm>
        </p:spPr>
        <p:txBody>
          <a:bodyPr/>
          <a:lstStyle/>
          <a:p>
            <a:r>
              <a:rPr lang="en-IN" sz="3600" dirty="0"/>
              <a:t>Starting and Connecting to the Neo4j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3731" y="1383622"/>
            <a:ext cx="25031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79331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07988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1.Start the Server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7988" algn="l"/>
              </a:tabLs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4" descr="Screenshot of the Neo4j launcher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423" y="2188718"/>
            <a:ext cx="4467497" cy="2923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63731" y="1737565"/>
            <a:ext cx="7001692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rgbClr val="41484D"/>
              </a:solidFill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installation instructions include instructions for starting the Neo4j server. The exact method you use will depend on your operating system.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example, on a Mac, clicking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Neo4j Community Edition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Applications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folder will launch this screen that allows you to start the Neo4j server.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 the server has been started, open the following URL in your web browser: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http://localhost:7474/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follow the prompts.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Below are the screens I encountered when logging in for the first time (note that future versions may be different).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41484D"/>
              </a:solidFill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rgbClr val="41484D"/>
              </a:solidFill>
              <a:effectLst/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41484D"/>
              </a:solidFill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45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48640" y="466002"/>
            <a:ext cx="549510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9331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07988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2.Connect to Neo4j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097" name="Picture 3" descr="Screenshot of the Neo4j browser cloud p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760" y="681446"/>
            <a:ext cx="5190309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14103" y="798673"/>
            <a:ext cx="5660571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41484D"/>
              </a:solidFill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1484D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either create an account for the cloud service or click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1484D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1484D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No thanks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48640" y="3708426"/>
            <a:ext cx="12945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79331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07988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3.Log In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7988" algn="l"/>
              </a:tabLs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0" name="Picture 2" descr="Screenshot of the Neo4j browser log in screen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760" y="3708426"/>
            <a:ext cx="5190309" cy="278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14103" y="3677539"/>
            <a:ext cx="5660571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rgbClr val="41484D"/>
              </a:solidFill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41484D"/>
              </a:solidFill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 in using the username and password provided 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screen.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first time you log in you will be prompted to change your password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1484D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82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36023" y="206824"/>
            <a:ext cx="7121306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79331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07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07988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4.The Result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7988" algn="l"/>
              </a:tabLs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41484D"/>
              </a:solidFill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7988" algn="l"/>
              </a:tabLs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 the password has been changed, this screen is displayed</a:t>
            </a: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Here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you can use the links to learn more about Neo4j and how to create databases and run queries.</a:t>
            </a: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07988" algn="l"/>
              </a:tabLs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1" name="Picture 1" descr="Screenshot of the Neo4j browser start screen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23" y="2394857"/>
            <a:ext cx="8978536" cy="372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3055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57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492"/>
          </a:xfrm>
        </p:spPr>
        <p:txBody>
          <a:bodyPr>
            <a:normAutofit/>
          </a:bodyPr>
          <a:lstStyle/>
          <a:p>
            <a:r>
              <a:rPr lang="en-IN" sz="4000" dirty="0" smtClean="0"/>
              <a:t>Operations in Neo4j</a:t>
            </a:r>
            <a:endParaRPr lang="en-IN" sz="4000" dirty="0"/>
          </a:p>
        </p:txBody>
      </p:sp>
      <p:sp>
        <p:nvSpPr>
          <p:cNvPr id="3" name="Rectangle 2"/>
          <p:cNvSpPr/>
          <p:nvPr/>
        </p:nvSpPr>
        <p:spPr>
          <a:xfrm>
            <a:off x="838200" y="1425917"/>
            <a:ext cx="101280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Neo4j has its own query language called Cypher. Cypher uses a similar syntax to </a:t>
            </a:r>
            <a:r>
              <a:rPr lang="en-US" b="0" i="0" u="none" strike="noStrike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  <a:hlinkClick r:id="rId2"/>
              </a:rPr>
              <a:t>SQL</a:t>
            </a:r>
            <a:r>
              <a:rPr lang="en-US" b="0" i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 (Structured Query Language).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46909" y="2046103"/>
            <a:ext cx="9890760" cy="12464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To create nodes and relationships using Cypher, use the 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co"/>
              </a:rPr>
              <a:t>CREATE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 statement.</a:t>
            </a: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Creating a Node: </a:t>
            </a:r>
            <a:endParaRPr lang="en-US" alt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r>
              <a:rPr lang="en-US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altLang="en-US" dirty="0" smtClean="0">
                <a:solidFill>
                  <a:srgbClr val="C00000"/>
                </a:solidFill>
              </a:rPr>
              <a:t>CREATE (</a:t>
            </a:r>
            <a:r>
              <a:rPr lang="en-US" altLang="en-US" dirty="0" err="1" smtClean="0">
                <a:solidFill>
                  <a:srgbClr val="C00000"/>
                </a:solidFill>
              </a:rPr>
              <a:t>a:Artist</a:t>
            </a:r>
            <a:r>
              <a:rPr lang="en-US" altLang="en-US" dirty="0" smtClean="0">
                <a:solidFill>
                  <a:srgbClr val="C00000"/>
                </a:solidFill>
              </a:rPr>
              <a:t> { Name : "Strapping Young Lad" })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32709" y="3634185"/>
            <a:ext cx="4669868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Once Neo4j has created the node, you should see a message like this: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6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1" name="Picture 3" descr="Screenshot of the message confirming that 1 label, 1 node, and 1 property were creat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939" y="3916362"/>
            <a:ext cx="6506118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Screenshot of a Neo4j no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679" y="2557859"/>
            <a:ext cx="1066800" cy="107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19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8671" y="414049"/>
            <a:ext cx="9537146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0" i="0" dirty="0" smtClean="0">
                <a:solidFill>
                  <a:srgbClr val="000000"/>
                </a:solidFill>
                <a:effectLst/>
                <a:latin typeface="Kadwa"/>
              </a:rPr>
              <a:t>Displaying the Node</a:t>
            </a:r>
          </a:p>
          <a:p>
            <a:endParaRPr lang="en-IN" b="0" i="0" dirty="0" smtClean="0">
              <a:solidFill>
                <a:srgbClr val="000000"/>
              </a:solidFill>
              <a:effectLst/>
              <a:latin typeface="Kadwa"/>
            </a:endParaRPr>
          </a:p>
          <a:p>
            <a:r>
              <a:rPr lang="en-US" b="0" i="0" dirty="0" smtClean="0">
                <a:solidFill>
                  <a:srgbClr val="C00000"/>
                </a:solidFill>
                <a:effectLst/>
                <a:latin typeface="Kadwa"/>
              </a:rPr>
              <a:t>CREATE (</a:t>
            </a:r>
            <a:r>
              <a:rPr lang="en-US" b="0" i="0" dirty="0" err="1" smtClean="0">
                <a:solidFill>
                  <a:srgbClr val="C00000"/>
                </a:solidFill>
                <a:effectLst/>
                <a:latin typeface="Kadwa"/>
              </a:rPr>
              <a:t>b:Album</a:t>
            </a:r>
            <a:r>
              <a:rPr lang="en-US" b="0" i="0" dirty="0" smtClean="0">
                <a:solidFill>
                  <a:srgbClr val="C00000"/>
                </a:solidFill>
                <a:effectLst/>
                <a:latin typeface="Kadwa"/>
              </a:rPr>
              <a:t> { Name : "Heavy as a Really Heavy Thing", Released : "1995" })</a:t>
            </a:r>
          </a:p>
          <a:p>
            <a:r>
              <a:rPr lang="en-US" b="0" i="0" dirty="0" smtClean="0">
                <a:solidFill>
                  <a:srgbClr val="C00000"/>
                </a:solidFill>
                <a:effectLst/>
                <a:latin typeface="Kadwa"/>
              </a:rPr>
              <a:t>RETURN b</a:t>
            </a:r>
          </a:p>
          <a:p>
            <a:endParaRPr lang="en-US" dirty="0">
              <a:solidFill>
                <a:srgbClr val="000000"/>
              </a:solidFill>
              <a:latin typeface="Kadwa"/>
            </a:endParaRPr>
          </a:p>
          <a:p>
            <a:endParaRPr lang="en-IN" b="0" i="0" dirty="0">
              <a:solidFill>
                <a:srgbClr val="000000"/>
              </a:solidFill>
              <a:effectLst/>
              <a:latin typeface="Kadwa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339" y="1956601"/>
            <a:ext cx="7255500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The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co"/>
              </a:rPr>
              <a:t>CREATE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 statement 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creates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 the node but it doesn't 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display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 the node.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To display the node, you need to follow it up with a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co"/>
              </a:rPr>
              <a:t>RETURN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ource Sans Pro"/>
              </a:rPr>
              <a:t> statement.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8671" y="3012555"/>
            <a:ext cx="9109166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Creating Relation between Nodes</a:t>
            </a:r>
          </a:p>
          <a:p>
            <a:endParaRPr lang="en-I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dirty="0" smtClean="0">
                <a:solidFill>
                  <a:srgbClr val="C00000"/>
                </a:solidFill>
              </a:rPr>
              <a:t>MATCH (</a:t>
            </a:r>
            <a:r>
              <a:rPr lang="en-IN" dirty="0" err="1" smtClean="0">
                <a:solidFill>
                  <a:srgbClr val="C00000"/>
                </a:solidFill>
              </a:rPr>
              <a:t>a:Artist</a:t>
            </a:r>
            <a:r>
              <a:rPr lang="en-IN" dirty="0" smtClean="0">
                <a:solidFill>
                  <a:srgbClr val="C00000"/>
                </a:solidFill>
              </a:rPr>
              <a:t>),(</a:t>
            </a:r>
            <a:r>
              <a:rPr lang="en-IN" dirty="0" err="1" smtClean="0">
                <a:solidFill>
                  <a:srgbClr val="C00000"/>
                </a:solidFill>
              </a:rPr>
              <a:t>b:Album</a:t>
            </a:r>
            <a:r>
              <a:rPr lang="en-IN" dirty="0" smtClean="0">
                <a:solidFill>
                  <a:srgbClr val="C00000"/>
                </a:solidFill>
              </a:rPr>
              <a:t>)</a:t>
            </a:r>
          </a:p>
          <a:p>
            <a:r>
              <a:rPr lang="en-IN" dirty="0" smtClean="0">
                <a:solidFill>
                  <a:srgbClr val="C00000"/>
                </a:solidFill>
              </a:rPr>
              <a:t>WHERE </a:t>
            </a:r>
            <a:r>
              <a:rPr lang="en-IN" dirty="0" err="1" smtClean="0">
                <a:solidFill>
                  <a:srgbClr val="C00000"/>
                </a:solidFill>
              </a:rPr>
              <a:t>a.Name</a:t>
            </a:r>
            <a:r>
              <a:rPr lang="en-IN" dirty="0" smtClean="0">
                <a:solidFill>
                  <a:srgbClr val="C00000"/>
                </a:solidFill>
              </a:rPr>
              <a:t> = "Strapping Young Lad" AND </a:t>
            </a:r>
            <a:r>
              <a:rPr lang="en-IN" dirty="0" err="1" smtClean="0">
                <a:solidFill>
                  <a:srgbClr val="C00000"/>
                </a:solidFill>
              </a:rPr>
              <a:t>b.Name</a:t>
            </a:r>
            <a:r>
              <a:rPr lang="en-IN" dirty="0" smtClean="0">
                <a:solidFill>
                  <a:srgbClr val="C00000"/>
                </a:solidFill>
              </a:rPr>
              <a:t> = "Heavy as a Really Heavy Thing"</a:t>
            </a:r>
          </a:p>
          <a:p>
            <a:r>
              <a:rPr lang="en-IN" dirty="0" smtClean="0">
                <a:solidFill>
                  <a:srgbClr val="C00000"/>
                </a:solidFill>
              </a:rPr>
              <a:t>CREATE (a)-[</a:t>
            </a:r>
            <a:r>
              <a:rPr lang="en-IN" dirty="0" err="1" smtClean="0">
                <a:solidFill>
                  <a:srgbClr val="C00000"/>
                </a:solidFill>
              </a:rPr>
              <a:t>r:RELEASED</a:t>
            </a:r>
            <a:r>
              <a:rPr lang="en-IN" dirty="0" smtClean="0">
                <a:solidFill>
                  <a:srgbClr val="C00000"/>
                </a:solidFill>
              </a:rPr>
              <a:t>]-&gt;(b)</a:t>
            </a:r>
          </a:p>
          <a:p>
            <a:r>
              <a:rPr lang="en-IN" dirty="0" smtClean="0">
                <a:solidFill>
                  <a:srgbClr val="C00000"/>
                </a:solidFill>
              </a:rPr>
              <a:t>RETURN r</a:t>
            </a:r>
          </a:p>
          <a:p>
            <a:pPr lvl="0"/>
            <a:r>
              <a:rPr lang="en-US" altLang="en-US" dirty="0" smtClean="0">
                <a:latin typeface="Arial" panose="020B0604020202020204" pitchFamily="34" charset="0"/>
              </a:rPr>
              <a:t>It creates the following relationship:  </a:t>
            </a:r>
            <a:r>
              <a:rPr kumimoji="0" lang="en-US" altLang="en-US" sz="7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9668" y="-496675"/>
            <a:ext cx="437940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5" name="Picture 3" descr="Screenshot of relationships between nod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126" y="4935784"/>
            <a:ext cx="3676650" cy="113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78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308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Arial Unicode MS</vt:lpstr>
      <vt:lpstr>Calibri</vt:lpstr>
      <vt:lpstr>Calibri Light</vt:lpstr>
      <vt:lpstr>Courier New</vt:lpstr>
      <vt:lpstr>Helvetica</vt:lpstr>
      <vt:lpstr>Kadwa</vt:lpstr>
      <vt:lpstr>Monaco</vt:lpstr>
      <vt:lpstr>Source Sans Pro</vt:lpstr>
      <vt:lpstr>Times New Roman</vt:lpstr>
      <vt:lpstr>Office Theme</vt:lpstr>
      <vt:lpstr>Installation of  Neo4j</vt:lpstr>
      <vt:lpstr>PowerPoint Presentation</vt:lpstr>
      <vt:lpstr>Windows(exe)</vt:lpstr>
      <vt:lpstr>Linux/UNIX Install (tar)</vt:lpstr>
      <vt:lpstr>Starting and Connecting to the Neo4j </vt:lpstr>
      <vt:lpstr>PowerPoint Presentation</vt:lpstr>
      <vt:lpstr>PowerPoint Presentation</vt:lpstr>
      <vt:lpstr>Operations in Neo4j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of  Neo4j</dc:title>
  <dc:creator>acer</dc:creator>
  <cp:lastModifiedBy>acer</cp:lastModifiedBy>
  <cp:revision>24</cp:revision>
  <dcterms:created xsi:type="dcterms:W3CDTF">2020-08-07T02:48:37Z</dcterms:created>
  <dcterms:modified xsi:type="dcterms:W3CDTF">2020-08-07T04:16:09Z</dcterms:modified>
</cp:coreProperties>
</file>