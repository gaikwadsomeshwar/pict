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4" name="Shape 174"/>
          <p:cNvSpPr/>
          <p:nvPr>
            <p:ph type="sldImg"/>
          </p:nvPr>
        </p:nvSpPr>
        <p:spPr>
          <a:xfrm>
            <a:off x="1143000" y="685800"/>
            <a:ext cx="4572000" cy="3429000"/>
          </a:xfrm>
          <a:prstGeom prst="rect">
            <a:avLst/>
          </a:prstGeom>
        </p:spPr>
        <p:txBody>
          <a:bodyPr/>
          <a:lstStyle/>
          <a:p>
            <a:pPr/>
          </a:p>
        </p:txBody>
      </p:sp>
      <p:sp>
        <p:nvSpPr>
          <p:cNvPr id="175" name="Shape 17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149" name="Title Text"/>
          <p:cNvSpPr txBox="1"/>
          <p:nvPr>
            <p:ph type="title"/>
          </p:nvPr>
        </p:nvSpPr>
        <p:spPr>
          <a:xfrm>
            <a:off x="3048000" y="2244725"/>
            <a:ext cx="18288000" cy="4775201"/>
          </a:xfrm>
          <a:prstGeom prst="rect">
            <a:avLst/>
          </a:prstGeom>
        </p:spPr>
        <p:txBody>
          <a:bodyPr lIns="91439" tIns="91439" rIns="91439" bIns="91439" anchor="b"/>
          <a:lstStyle>
            <a:lvl1pPr algn="ctr" defTabSz="1828800">
              <a:lnSpc>
                <a:spcPct val="90000"/>
              </a:lnSpc>
              <a:defRPr b="0" spc="0" sz="12000">
                <a:latin typeface="Calibri Light"/>
                <a:ea typeface="Calibri Light"/>
                <a:cs typeface="Calibri Light"/>
                <a:sym typeface="Calibri Light"/>
              </a:defRPr>
            </a:lvl1pPr>
          </a:lstStyle>
          <a:p>
            <a:pPr/>
            <a:r>
              <a:t>Title Text</a:t>
            </a:r>
          </a:p>
        </p:txBody>
      </p:sp>
      <p:sp>
        <p:nvSpPr>
          <p:cNvPr id="150" name="Body Level One…"/>
          <p:cNvSpPr txBox="1"/>
          <p:nvPr>
            <p:ph type="body" sz="quarter" idx="1"/>
          </p:nvPr>
        </p:nvSpPr>
        <p:spPr>
          <a:xfrm>
            <a:off x="3048000" y="7204075"/>
            <a:ext cx="18288000" cy="3311525"/>
          </a:xfrm>
          <a:prstGeom prst="rect">
            <a:avLst/>
          </a:prstGeom>
        </p:spPr>
        <p:txBody>
          <a:bodyPr lIns="91439" tIns="91439" rIns="91439" bIns="91439"/>
          <a:lstStyle>
            <a:lvl1pPr marL="0" indent="0" algn="ctr" defTabSz="1828800">
              <a:spcBef>
                <a:spcPts val="2000"/>
              </a:spcBef>
              <a:buSzTx/>
              <a:buNone/>
              <a:defRPr>
                <a:latin typeface="Calibri"/>
                <a:ea typeface="Calibri"/>
                <a:cs typeface="Calibri"/>
                <a:sym typeface="Calibri"/>
              </a:defRPr>
            </a:lvl1pPr>
            <a:lvl2pPr marL="0" indent="457200" algn="ctr" defTabSz="1828800">
              <a:spcBef>
                <a:spcPts val="2000"/>
              </a:spcBef>
              <a:buSzTx/>
              <a:buNone/>
              <a:defRPr>
                <a:latin typeface="Calibri"/>
                <a:ea typeface="Calibri"/>
                <a:cs typeface="Calibri"/>
                <a:sym typeface="Calibri"/>
              </a:defRPr>
            </a:lvl2pPr>
            <a:lvl3pPr marL="0" indent="914400" algn="ctr" defTabSz="1828800">
              <a:spcBef>
                <a:spcPts val="2000"/>
              </a:spcBef>
              <a:buSzTx/>
              <a:buNone/>
              <a:defRPr>
                <a:latin typeface="Calibri"/>
                <a:ea typeface="Calibri"/>
                <a:cs typeface="Calibri"/>
                <a:sym typeface="Calibri"/>
              </a:defRPr>
            </a:lvl3pPr>
            <a:lvl4pPr marL="0" indent="1371600" algn="ctr" defTabSz="1828800">
              <a:spcBef>
                <a:spcPts val="2000"/>
              </a:spcBef>
              <a:buSzTx/>
              <a:buNone/>
              <a:defRPr>
                <a:latin typeface="Calibri"/>
                <a:ea typeface="Calibri"/>
                <a:cs typeface="Calibri"/>
                <a:sym typeface="Calibri"/>
              </a:defRPr>
            </a:lvl4pPr>
            <a:lvl5pPr marL="0" indent="1828800" algn="ctr" defTabSz="1828800">
              <a:spcBef>
                <a:spcPts val="2000"/>
              </a:spcBef>
              <a:buSzTx/>
              <a:buNone/>
              <a:defRPr>
                <a:latin typeface="Calibri"/>
                <a:ea typeface="Calibri"/>
                <a:cs typeface="Calibri"/>
                <a:sym typeface="Calibri"/>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22203052" y="12835870"/>
            <a:ext cx="504548" cy="483910"/>
          </a:xfrm>
          <a:prstGeom prst="rect">
            <a:avLst/>
          </a:prstGeom>
        </p:spPr>
        <p:txBody>
          <a:bodyPr lIns="91439" tIns="91439" rIns="91439" bIns="91439" anchor="ctr"/>
          <a:lstStyle>
            <a:lvl1pPr algn="r" defTabSz="1828800">
              <a:defRPr sz="2400">
                <a:solidFill>
                  <a:srgbClr val="888888"/>
                </a:solidFill>
                <a:latin typeface="Calibri"/>
                <a:ea typeface="Calibri"/>
                <a:cs typeface="Calibri"/>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158" name="Title Text"/>
          <p:cNvSpPr txBox="1"/>
          <p:nvPr>
            <p:ph type="title"/>
          </p:nvPr>
        </p:nvSpPr>
        <p:spPr>
          <a:xfrm>
            <a:off x="1676400" y="730250"/>
            <a:ext cx="21031200" cy="2651126"/>
          </a:xfrm>
          <a:prstGeom prst="rect">
            <a:avLst/>
          </a:prstGeom>
        </p:spPr>
        <p:txBody>
          <a:bodyPr lIns="91439" tIns="91439" rIns="91439" bIns="91439" anchor="ctr"/>
          <a:lstStyle>
            <a:lvl1pPr defTabSz="1828800">
              <a:lnSpc>
                <a:spcPct val="90000"/>
              </a:lnSpc>
              <a:defRPr b="0" spc="0" sz="8800">
                <a:latin typeface="Calibri Light"/>
                <a:ea typeface="Calibri Light"/>
                <a:cs typeface="Calibri Light"/>
                <a:sym typeface="Calibri Light"/>
              </a:defRPr>
            </a:lvl1pPr>
          </a:lstStyle>
          <a:p>
            <a:pPr/>
            <a:r>
              <a:t>Title Text</a:t>
            </a:r>
          </a:p>
        </p:txBody>
      </p:sp>
      <p:sp>
        <p:nvSpPr>
          <p:cNvPr id="159" name="Slide Number"/>
          <p:cNvSpPr txBox="1"/>
          <p:nvPr>
            <p:ph type="sldNum" sz="quarter" idx="2"/>
          </p:nvPr>
        </p:nvSpPr>
        <p:spPr>
          <a:xfrm>
            <a:off x="22203052" y="12835870"/>
            <a:ext cx="504548" cy="483910"/>
          </a:xfrm>
          <a:prstGeom prst="rect">
            <a:avLst/>
          </a:prstGeom>
        </p:spPr>
        <p:txBody>
          <a:bodyPr lIns="91439" tIns="91439" rIns="91439" bIns="91439" anchor="ctr"/>
          <a:lstStyle>
            <a:lvl1pPr algn="r" defTabSz="1828800">
              <a:defRPr sz="2400">
                <a:solidFill>
                  <a:srgbClr val="888888"/>
                </a:solidFill>
                <a:latin typeface="Calibri"/>
                <a:ea typeface="Calibri"/>
                <a:cs typeface="Calibri"/>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166" name="Title Text"/>
          <p:cNvSpPr txBox="1"/>
          <p:nvPr>
            <p:ph type="title"/>
          </p:nvPr>
        </p:nvSpPr>
        <p:spPr>
          <a:xfrm>
            <a:off x="1676400" y="730250"/>
            <a:ext cx="21031200" cy="2651126"/>
          </a:xfrm>
          <a:prstGeom prst="rect">
            <a:avLst/>
          </a:prstGeom>
        </p:spPr>
        <p:txBody>
          <a:bodyPr lIns="91439" tIns="91439" rIns="91439" bIns="91439" anchor="ctr"/>
          <a:lstStyle>
            <a:lvl1pPr defTabSz="1828800">
              <a:lnSpc>
                <a:spcPct val="90000"/>
              </a:lnSpc>
              <a:defRPr b="0" spc="0" sz="8800">
                <a:latin typeface="Calibri Light"/>
                <a:ea typeface="Calibri Light"/>
                <a:cs typeface="Calibri Light"/>
                <a:sym typeface="Calibri Light"/>
              </a:defRPr>
            </a:lvl1pPr>
          </a:lstStyle>
          <a:p>
            <a:pPr/>
            <a:r>
              <a:t>Title Text</a:t>
            </a:r>
          </a:p>
        </p:txBody>
      </p:sp>
      <p:sp>
        <p:nvSpPr>
          <p:cNvPr id="167" name="Body Level One…"/>
          <p:cNvSpPr txBox="1"/>
          <p:nvPr>
            <p:ph type="body" idx="1"/>
          </p:nvPr>
        </p:nvSpPr>
        <p:spPr>
          <a:xfrm>
            <a:off x="1676400" y="3651250"/>
            <a:ext cx="21031200" cy="8702676"/>
          </a:xfrm>
          <a:prstGeom prst="rect">
            <a:avLst/>
          </a:prstGeom>
        </p:spPr>
        <p:txBody>
          <a:bodyPr lIns="91439" tIns="91439" rIns="91439" bIns="91439"/>
          <a:lstStyle>
            <a:lvl1pPr marL="457200" indent="-457200" defTabSz="1828800">
              <a:spcBef>
                <a:spcPts val="2000"/>
              </a:spcBef>
              <a:buSzPct val="100000"/>
              <a:buFont typeface="Arial"/>
              <a:defRPr sz="5600">
                <a:latin typeface="Calibri"/>
                <a:ea typeface="Calibri"/>
                <a:cs typeface="Calibri"/>
                <a:sym typeface="Calibri"/>
              </a:defRPr>
            </a:lvl1pPr>
            <a:lvl2pPr marL="990600" indent="-533400" defTabSz="1828800">
              <a:spcBef>
                <a:spcPts val="2000"/>
              </a:spcBef>
              <a:buSzPct val="100000"/>
              <a:buFont typeface="Arial"/>
              <a:defRPr sz="5600">
                <a:latin typeface="Calibri"/>
                <a:ea typeface="Calibri"/>
                <a:cs typeface="Calibri"/>
                <a:sym typeface="Calibri"/>
              </a:defRPr>
            </a:lvl2pPr>
            <a:lvl3pPr marL="1554479" indent="-640079" defTabSz="1828800">
              <a:spcBef>
                <a:spcPts val="2000"/>
              </a:spcBef>
              <a:buSzPct val="100000"/>
              <a:buFont typeface="Arial"/>
              <a:defRPr sz="5600">
                <a:latin typeface="Calibri"/>
                <a:ea typeface="Calibri"/>
                <a:cs typeface="Calibri"/>
                <a:sym typeface="Calibri"/>
              </a:defRPr>
            </a:lvl3pPr>
            <a:lvl4pPr marL="2082800" indent="-711200" defTabSz="1828800">
              <a:spcBef>
                <a:spcPts val="2000"/>
              </a:spcBef>
              <a:buSzPct val="100000"/>
              <a:buFont typeface="Arial"/>
              <a:defRPr sz="5600">
                <a:latin typeface="Calibri"/>
                <a:ea typeface="Calibri"/>
                <a:cs typeface="Calibri"/>
                <a:sym typeface="Calibri"/>
              </a:defRPr>
            </a:lvl4pPr>
            <a:lvl5pPr marL="2540000" indent="-711200" defTabSz="1828800">
              <a:spcBef>
                <a:spcPts val="2000"/>
              </a:spcBef>
              <a:buSzPct val="100000"/>
              <a:buFont typeface="Arial"/>
              <a:defRPr sz="5600">
                <a:latin typeface="Calibri"/>
                <a:ea typeface="Calibri"/>
                <a:cs typeface="Calibri"/>
                <a:sym typeface="Calibri"/>
              </a:defRPr>
            </a:lvl5pPr>
          </a:lstStyle>
          <a:p>
            <a:pPr/>
            <a:r>
              <a:t>Body Level One</a:t>
            </a:r>
          </a:p>
          <a:p>
            <a:pPr lvl="1"/>
            <a:r>
              <a:t>Body Level Two</a:t>
            </a:r>
          </a:p>
          <a:p>
            <a:pPr lvl="2"/>
            <a:r>
              <a:t>Body Level Three</a:t>
            </a:r>
          </a:p>
          <a:p>
            <a:pPr lvl="3"/>
            <a:r>
              <a:t>Body Level Four</a:t>
            </a:r>
          </a:p>
          <a:p>
            <a:pPr lvl="4"/>
            <a:r>
              <a:t>Body Level Five</a:t>
            </a:r>
          </a:p>
        </p:txBody>
      </p:sp>
      <p:sp>
        <p:nvSpPr>
          <p:cNvPr id="168" name="Slide Number"/>
          <p:cNvSpPr txBox="1"/>
          <p:nvPr>
            <p:ph type="sldNum" sz="quarter" idx="2"/>
          </p:nvPr>
        </p:nvSpPr>
        <p:spPr>
          <a:xfrm>
            <a:off x="22203052" y="12835870"/>
            <a:ext cx="504548" cy="483910"/>
          </a:xfrm>
          <a:prstGeom prst="rect">
            <a:avLst/>
          </a:prstGeom>
        </p:spPr>
        <p:txBody>
          <a:bodyPr lIns="91439" tIns="91439" rIns="91439" bIns="91439" anchor="ctr"/>
          <a:lstStyle>
            <a:lvl1pPr algn="r" defTabSz="1828800">
              <a:defRPr sz="2400">
                <a:solidFill>
                  <a:srgbClr val="888888"/>
                </a:solidFill>
                <a:latin typeface="Calibri"/>
                <a:ea typeface="Calibri"/>
                <a:cs typeface="Calibri"/>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en.wikipedia.org/wiki/Database" TargetMode="External"/><Relationship Id="rId3" Type="http://schemas.openxmlformats.org/officeDocument/2006/relationships/hyperlink" Target="https://en.wikipedia.org/wiki/Graph_(data_structure)" TargetMode="External"/><Relationship Id="rId4" Type="http://schemas.openxmlformats.org/officeDocument/2006/relationships/hyperlink" Target="https://en.wikipedia.org/wiki/Semantic_query" TargetMode="External"/><Relationship Id="rId5" Type="http://schemas.openxmlformats.org/officeDocument/2006/relationships/hyperlink" Target="https://en.wikipedia.org/wiki/Node_(graph_theory)" TargetMode="External"/><Relationship Id="rId6" Type="http://schemas.openxmlformats.org/officeDocument/2006/relationships/hyperlink" Target="https://en.wikipedia.org/wiki/Edge_(graph_theory)" TargetMode="External"/><Relationship Id="rId7" Type="http://schemas.openxmlformats.org/officeDocument/2006/relationships/hyperlink" Target="https://en.wikipedia.org/wiki/NoSQL" TargetMode="External"/><Relationship Id="rId8" Type="http://schemas.openxmlformats.org/officeDocument/2006/relationships/hyperlink" Target="https://en.wikipedia.org/wiki/Relational_database" TargetMode="External"/><Relationship Id="rId9" Type="http://schemas.openxmlformats.org/officeDocument/2006/relationships/hyperlink" Target="https://en.wikipedia.org/wiki/Query_language" TargetMode="External"/><Relationship Id="rId10" Type="http://schemas.openxmlformats.org/officeDocument/2006/relationships/hyperlink" Target="https://en.wikipedia.org/wiki/SQL" TargetMode="External"/><Relationship Id="rId11" Type="http://schemas.openxmlformats.org/officeDocument/2006/relationships/image" Target="../media/image1.tif"/></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jpe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medium.com"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neo4j.com/download/" TargetMode="Externa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hyperlink" Target="http://localhost:7474/" TargetMode="Externa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hyperlink" Target="https://www.quackit.com/pix/neo4j/tutorial/neo4j_launcher.png" TargetMode="External"/><Relationship Id="rId3" Type="http://schemas.openxmlformats.org/officeDocument/2006/relationships/image" Target="../media/image2.png"/><Relationship Id="rId4" Type="http://schemas.openxmlformats.org/officeDocument/2006/relationships/hyperlink" Target="http://localhost:7474/" TargetMode="Externa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hyperlink" Target="https://www.quackit.com/pix/neo4j/tutorial/neo4j_installation_1.png" TargetMode="External"/><Relationship Id="rId3" Type="http://schemas.openxmlformats.org/officeDocument/2006/relationships/image" Target="../media/image3.png"/><Relationship Id="rId4" Type="http://schemas.openxmlformats.org/officeDocument/2006/relationships/hyperlink" Target="https://www.quackit.com/pix/neo4j/tutorial/neo4j_installation_2.png" TargetMode="External"/><Relationship Id="rId5" Type="http://schemas.openxmlformats.org/officeDocument/2006/relationships/image" Target="../media/image4.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hyperlink" Target="https://www.quackit.com/pix/neo4j/tutorial/neo4j_installation_3.png" TargetMode="External"/><Relationship Id="rId3" Type="http://schemas.openxmlformats.org/officeDocument/2006/relationships/image" Target="../media/image5.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hyperlink" Target="https://www.quackit.com/sql/tutorial/" TargetMode="External"/><Relationship Id="rId3" Type="http://schemas.openxmlformats.org/officeDocument/2006/relationships/image" Target="../media/image6.png"/><Relationship Id="rId4" Type="http://schemas.openxmlformats.org/officeDocument/2006/relationships/image" Target="../media/image7.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en.wikipedia.org/wiki/Graph_database" TargetMode="External"/><Relationship Id="rId3" Type="http://schemas.openxmlformats.org/officeDocument/2006/relationships/hyperlink" Target="https://neo4j.com/news/relational-vs-graph-databases/" TargetMode="External"/><Relationship Id="rId4" Type="http://schemas.openxmlformats.org/officeDocument/2006/relationships/hyperlink" Target="https://sdtimes.com/databases/guest-view-relational-vs-graph-databases-use/" TargetMode="External"/><Relationship Id="rId5" Type="http://schemas.openxmlformats.org/officeDocument/2006/relationships/hyperlink" Target="https://neo4j.com/blog/why-graph-databases-are-the-future/" TargetMode="External"/><Relationship Id="rId6" Type="http://schemas.openxmlformats.org/officeDocument/2006/relationships/hyperlink" Target="https://towardsdatascience.com/graph-databases-whats-the-big-deal-ec310b1bc0ed" TargetMode="External"/><Relationship Id="rId7" Type="http://schemas.openxmlformats.org/officeDocument/2006/relationships/hyperlink" Target="https://neo4j.com/customers/?ref=home"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Shreyas Kalrao 33255…"/>
          <p:cNvSpPr txBox="1"/>
          <p:nvPr>
            <p:ph type="body" idx="21"/>
          </p:nvPr>
        </p:nvSpPr>
        <p:spPr>
          <a:xfrm>
            <a:off x="17977822" y="10458231"/>
            <a:ext cx="6202595" cy="3037324"/>
          </a:xfrm>
          <a:prstGeom prst="rect">
            <a:avLst/>
          </a:prstGeom>
          <a:extLst>
            <a:ext uri="{C572A759-6A51-4108-AA02-DFA0A04FC94B}">
              <ma14:wrappingTextBoxFlag xmlns:ma14="http://schemas.microsoft.com/office/mac/drawingml/2011/main" val="1"/>
            </a:ext>
          </a:extLst>
        </p:spPr>
        <p:txBody>
          <a:bodyPr/>
          <a:lstStyle/>
          <a:p>
            <a:pPr algn="r"/>
            <a:r>
              <a:t>Shreyas Kalrao 33255</a:t>
            </a:r>
          </a:p>
          <a:p>
            <a:pPr algn="r"/>
            <a:r>
              <a:t>Someshwar Gaikwad 33256</a:t>
            </a:r>
          </a:p>
          <a:p>
            <a:pPr algn="r"/>
            <a:r>
              <a:t>Sushant Sontakke 33257</a:t>
            </a:r>
          </a:p>
          <a:p>
            <a:pPr algn="r"/>
            <a:r>
              <a:t>Yash Rathi 33262</a:t>
            </a:r>
          </a:p>
        </p:txBody>
      </p:sp>
      <p:sp>
        <p:nvSpPr>
          <p:cNvPr id="178" name="Graph Database"/>
          <p:cNvSpPr txBox="1"/>
          <p:nvPr>
            <p:ph type="ctrTitle"/>
          </p:nvPr>
        </p:nvSpPr>
        <p:spPr>
          <a:xfrm>
            <a:off x="1206498" y="444719"/>
            <a:ext cx="21971004" cy="4648201"/>
          </a:xfrm>
          <a:prstGeom prst="rect">
            <a:avLst/>
          </a:prstGeom>
        </p:spPr>
        <p:txBody>
          <a:bodyPr/>
          <a:lstStyle/>
          <a:p>
            <a:pPr/>
            <a:r>
              <a:t>Graph Database</a:t>
            </a:r>
          </a:p>
        </p:txBody>
      </p:sp>
      <p:sp>
        <p:nvSpPr>
          <p:cNvPr id="179" name="neo4j"/>
          <p:cNvSpPr txBox="1"/>
          <p:nvPr>
            <p:ph type="subTitle" sz="quarter" idx="1"/>
          </p:nvPr>
        </p:nvSpPr>
        <p:spPr>
          <a:xfrm>
            <a:off x="1206500" y="5016838"/>
            <a:ext cx="21971000" cy="1905001"/>
          </a:xfrm>
          <a:prstGeom prst="rect">
            <a:avLst/>
          </a:prstGeom>
        </p:spPr>
        <p:txBody>
          <a:bodyPr/>
          <a:lstStyle/>
          <a:p>
            <a:pPr/>
            <a:r>
              <a:t>neo4j</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Introduction"/>
          <p:cNvSpPr txBox="1"/>
          <p:nvPr>
            <p:ph type="title"/>
          </p:nvPr>
        </p:nvSpPr>
        <p:spPr>
          <a:prstGeom prst="rect">
            <a:avLst/>
          </a:prstGeom>
        </p:spPr>
        <p:txBody>
          <a:bodyPr/>
          <a:lstStyle/>
          <a:p>
            <a:pPr/>
            <a:r>
              <a:t>Introduction</a:t>
            </a:r>
          </a:p>
        </p:txBody>
      </p:sp>
      <p:sp>
        <p:nvSpPr>
          <p:cNvPr id="182" name="A graph database (GDB) is a database that uses graph structures for semantic queries with nodes, edges, and properties to represent and store data.…"/>
          <p:cNvSpPr txBox="1"/>
          <p:nvPr>
            <p:ph type="body" sz="half" idx="1"/>
          </p:nvPr>
        </p:nvSpPr>
        <p:spPr>
          <a:xfrm>
            <a:off x="959236" y="2467611"/>
            <a:ext cx="10985501" cy="8780778"/>
          </a:xfrm>
          <a:prstGeom prst="rect">
            <a:avLst/>
          </a:prstGeom>
        </p:spPr>
        <p:txBody>
          <a:bodyPr/>
          <a:lstStyle/>
          <a:p>
            <a:pPr marL="542544" indent="-542544" defTabSz="2170121">
              <a:spcBef>
                <a:spcPts val="4000"/>
              </a:spcBef>
              <a:defRPr sz="4272"/>
            </a:pPr>
            <a:r>
              <a:t>A </a:t>
            </a:r>
            <a:r>
              <a:rPr b="1"/>
              <a:t>graph database</a:t>
            </a:r>
            <a:r>
              <a:t> (</a:t>
            </a:r>
            <a:r>
              <a:rPr b="1"/>
              <a:t>GDB</a:t>
            </a:r>
            <a:r>
              <a:t>) is a </a:t>
            </a:r>
            <a:r>
              <a:rPr>
                <a:hlinkClick r:id="rId2" invalidUrl="" action="" tgtFrame="" tooltip="" history="1" highlightClick="0" endSnd="0"/>
              </a:rPr>
              <a:t>database</a:t>
            </a:r>
            <a:r>
              <a:t> that uses </a:t>
            </a:r>
            <a:r>
              <a:rPr>
                <a:hlinkClick r:id="rId3" invalidUrl="" action="" tgtFrame="" tooltip="" history="1" highlightClick="0" endSnd="0"/>
              </a:rPr>
              <a:t>graph structures</a:t>
            </a:r>
            <a:r>
              <a:t> for </a:t>
            </a:r>
            <a:r>
              <a:rPr>
                <a:hlinkClick r:id="rId4" invalidUrl="" action="" tgtFrame="" tooltip="" history="1" highlightClick="0" endSnd="0"/>
              </a:rPr>
              <a:t>semantic queries</a:t>
            </a:r>
            <a:r>
              <a:t> with </a:t>
            </a:r>
            <a:r>
              <a:rPr b="1">
                <a:hlinkClick r:id="rId5" invalidUrl="" action="" tgtFrame="" tooltip="" history="1" highlightClick="0" endSnd="0"/>
              </a:rPr>
              <a:t>nodes</a:t>
            </a:r>
            <a:r>
              <a:rPr b="1"/>
              <a:t>, </a:t>
            </a:r>
            <a:r>
              <a:rPr b="1">
                <a:hlinkClick r:id="rId6" invalidUrl="" action="" tgtFrame="" tooltip="" history="1" highlightClick="0" endSnd="0"/>
              </a:rPr>
              <a:t>edges</a:t>
            </a:r>
            <a:r>
              <a:rPr b="1"/>
              <a:t>, and properties</a:t>
            </a:r>
            <a:r>
              <a:t> to represent and store data.</a:t>
            </a:r>
          </a:p>
          <a:p>
            <a:pPr marL="542544" indent="-542544" defTabSz="2170121">
              <a:spcBef>
                <a:spcPts val="4000"/>
              </a:spcBef>
              <a:defRPr sz="4272"/>
            </a:pPr>
            <a:r>
              <a:t>Graph databases are a type of </a:t>
            </a:r>
            <a:r>
              <a:rPr b="1">
                <a:hlinkClick r:id="rId7" invalidUrl="" action="" tgtFrame="" tooltip="" history="1" highlightClick="0" endSnd="0"/>
              </a:rPr>
              <a:t>NoSQL</a:t>
            </a:r>
            <a:r>
              <a:rPr b="1"/>
              <a:t> database</a:t>
            </a:r>
            <a:r>
              <a:t>, created to address the limitations of </a:t>
            </a:r>
            <a:r>
              <a:rPr>
                <a:hlinkClick r:id="rId8" invalidUrl="" action="" tgtFrame="" tooltip="" history="1" highlightClick="0" endSnd="0"/>
              </a:rPr>
              <a:t>relational databases</a:t>
            </a:r>
            <a:r>
              <a:t>.</a:t>
            </a:r>
          </a:p>
          <a:p>
            <a:pPr marL="542544" indent="-542544" defTabSz="2170121">
              <a:spcBef>
                <a:spcPts val="4000"/>
              </a:spcBef>
              <a:defRPr sz="4272"/>
            </a:pPr>
            <a:r>
              <a:rPr b="1"/>
              <a:t>Storage Mechanism</a:t>
            </a:r>
            <a:r>
              <a:t>: Logical Table, Key-Valued or Document-Oriented Database.</a:t>
            </a:r>
          </a:p>
          <a:p>
            <a:pPr marL="542544" indent="-542544" defTabSz="2170121">
              <a:spcBef>
                <a:spcPts val="4000"/>
              </a:spcBef>
              <a:defRPr sz="4272"/>
            </a:pPr>
            <a:r>
              <a:t>Retrieving data requires a</a:t>
            </a:r>
            <a:r>
              <a:rPr b="1"/>
              <a:t> </a:t>
            </a:r>
            <a:r>
              <a:rPr b="1">
                <a:hlinkClick r:id="rId9" invalidUrl="" action="" tgtFrame="" tooltip="" history="1" highlightClick="0" endSnd="0"/>
              </a:rPr>
              <a:t>query language</a:t>
            </a:r>
            <a:r>
              <a:t> other than </a:t>
            </a:r>
            <a:r>
              <a:rPr>
                <a:hlinkClick r:id="rId10" invalidUrl="" action="" tgtFrame="" tooltip="" history="1" highlightClick="0" endSnd="0"/>
              </a:rPr>
              <a:t>SQL</a:t>
            </a:r>
            <a:r>
              <a:t>: like Gremlin, SPARQL, Cypher (Also APIs Available)</a:t>
            </a:r>
          </a:p>
        </p:txBody>
      </p:sp>
      <p:grpSp>
        <p:nvGrpSpPr>
          <p:cNvPr id="185" name="Image Gallery"/>
          <p:cNvGrpSpPr/>
          <p:nvPr/>
        </p:nvGrpSpPr>
        <p:grpSpPr>
          <a:xfrm>
            <a:off x="12952810" y="2528877"/>
            <a:ext cx="10985501" cy="8404246"/>
            <a:chOff x="0" y="0"/>
            <a:chExt cx="10985500" cy="8404245"/>
          </a:xfrm>
        </p:grpSpPr>
        <p:pic>
          <p:nvPicPr>
            <p:cNvPr id="183" name="Image" descr="Image"/>
            <p:cNvPicPr>
              <a:picLocks noChangeAspect="1"/>
            </p:cNvPicPr>
            <p:nvPr/>
          </p:nvPicPr>
          <p:blipFill>
            <a:blip r:embed="rId11">
              <a:extLst/>
            </a:blip>
            <a:srcRect l="0" t="203" r="0" b="203"/>
            <a:stretch>
              <a:fillRect/>
            </a:stretch>
          </p:blipFill>
          <p:spPr>
            <a:xfrm>
              <a:off x="0" y="0"/>
              <a:ext cx="10985500" cy="7743846"/>
            </a:xfrm>
            <a:prstGeom prst="rect">
              <a:avLst/>
            </a:prstGeom>
            <a:ln w="12700" cap="flat">
              <a:noFill/>
              <a:miter lim="400000"/>
            </a:ln>
            <a:effectLst/>
          </p:spPr>
        </p:pic>
        <p:sp>
          <p:nvSpPr>
            <p:cNvPr id="184" name="Graph databases employ nodes, properties, and edges."/>
            <p:cNvSpPr/>
            <p:nvPr/>
          </p:nvSpPr>
          <p:spPr>
            <a:xfrm>
              <a:off x="0" y="7820045"/>
              <a:ext cx="10985500" cy="584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t">
              <a:noAutofit/>
            </a:bodyPr>
            <a:lstStyle>
              <a:lvl1pPr defTabSz="457200">
                <a:defRPr b="1" sz="2800">
                  <a:solidFill>
                    <a:srgbClr val="202122"/>
                  </a:solidFill>
                  <a:latin typeface="Helvetica"/>
                  <a:ea typeface="Helvetica"/>
                  <a:cs typeface="Helvetica"/>
                  <a:sym typeface="Helvetica"/>
                </a:defRPr>
              </a:lvl1pPr>
            </a:lstStyle>
            <a:p>
              <a:pPr/>
              <a:r>
                <a:t>Graph databases employ nodes, properties, and edges.</a:t>
              </a:r>
            </a:p>
          </p:txBody>
        </p:sp>
      </p:gr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Why Use Them? Advantages over RDMS"/>
          <p:cNvSpPr txBox="1"/>
          <p:nvPr>
            <p:ph type="title"/>
          </p:nvPr>
        </p:nvSpPr>
        <p:spPr>
          <a:prstGeom prst="rect">
            <a:avLst/>
          </a:prstGeom>
        </p:spPr>
        <p:txBody>
          <a:bodyPr/>
          <a:lstStyle/>
          <a:p>
            <a:pPr/>
            <a:r>
              <a:t>Why Use Them? Advantages over RDMS</a:t>
            </a:r>
          </a:p>
        </p:txBody>
      </p:sp>
      <p:sp>
        <p:nvSpPr>
          <p:cNvPr id="188" name="Most Important Difference: Nodes directly joined, Finding Related Data-&gt; Follow Connections, whereas use Join-&gt; more complex; Hence very fast response time…"/>
          <p:cNvSpPr txBox="1"/>
          <p:nvPr>
            <p:ph type="body" idx="1"/>
          </p:nvPr>
        </p:nvSpPr>
        <p:spPr>
          <a:prstGeom prst="rect">
            <a:avLst/>
          </a:prstGeom>
        </p:spPr>
        <p:txBody>
          <a:bodyPr/>
          <a:lstStyle/>
          <a:p>
            <a:pPr/>
            <a:r>
              <a:t>Most Important Difference: Nodes directly joined, Finding Related Data-&gt; Follow Connections, whereas use Join-&gt; more complex; Hence very fast response time </a:t>
            </a:r>
          </a:p>
          <a:p>
            <a:pPr/>
            <a:r>
              <a:t>Property: </a:t>
            </a:r>
            <a:r>
              <a:rPr b="1"/>
              <a:t>Index-Free Adjacency</a:t>
            </a:r>
            <a:r>
              <a:t>, Fast Queries (millions of nodes per second)</a:t>
            </a:r>
          </a:p>
          <a:p>
            <a:pPr/>
            <a:r>
              <a:t>Flexibility of a graph database-&gt;add new nodes and relationships without compromising your existing network. (</a:t>
            </a:r>
            <a:r>
              <a:rPr b="1"/>
              <a:t>Scalability</a:t>
            </a:r>
            <a:r>
              <a: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0" name="0*7mBRCVcCPhmS_FD_.png" descr="0*7mBRCVcCPhmS_FD_.png"/>
          <p:cNvPicPr>
            <a:picLocks noChangeAspect="1"/>
          </p:cNvPicPr>
          <p:nvPr/>
        </p:nvPicPr>
        <p:blipFill>
          <a:blip r:embed="rId2">
            <a:extLst/>
          </a:blip>
          <a:stretch>
            <a:fillRect/>
          </a:stretch>
        </p:blipFill>
        <p:spPr>
          <a:xfrm>
            <a:off x="659391" y="1220524"/>
            <a:ext cx="23065218" cy="10233360"/>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What can go Wrong?"/>
          <p:cNvSpPr txBox="1"/>
          <p:nvPr>
            <p:ph type="title"/>
          </p:nvPr>
        </p:nvSpPr>
        <p:spPr>
          <a:prstGeom prst="rect">
            <a:avLst/>
          </a:prstGeom>
        </p:spPr>
        <p:txBody>
          <a:bodyPr/>
          <a:lstStyle/>
          <a:p>
            <a:pPr/>
            <a:r>
              <a:t>What can go Wrong?</a:t>
            </a:r>
          </a:p>
        </p:txBody>
      </p:sp>
      <p:sp>
        <p:nvSpPr>
          <p:cNvPr id="193" name="Technology is Fairy New whereas RDBMS have been existing for generations…"/>
          <p:cNvSpPr txBox="1"/>
          <p:nvPr>
            <p:ph type="body" idx="1"/>
          </p:nvPr>
        </p:nvSpPr>
        <p:spPr>
          <a:xfrm>
            <a:off x="1206500" y="3133588"/>
            <a:ext cx="21971000" cy="9370928"/>
          </a:xfrm>
          <a:prstGeom prst="rect">
            <a:avLst/>
          </a:prstGeom>
        </p:spPr>
        <p:txBody>
          <a:bodyPr/>
          <a:lstStyle/>
          <a:p>
            <a:pPr>
              <a:defRPr sz="5000"/>
            </a:pPr>
            <a:r>
              <a:t>Technology is Fairy New whereas RDBMS have been existing for generations</a:t>
            </a:r>
          </a:p>
          <a:p>
            <a:pPr>
              <a:defRPr sz="5000"/>
            </a:pPr>
            <a:r>
              <a:t>On paper Graph Database sounds Powerful, but it is of no use if we are not able to implement them.</a:t>
            </a:r>
          </a:p>
          <a:p>
            <a:pPr>
              <a:defRPr sz="5000"/>
            </a:pPr>
            <a:r>
              <a:t>Though it uses a Graph Structure, the underlying structure is that of a traditional table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Characteristics"/>
          <p:cNvSpPr txBox="1"/>
          <p:nvPr>
            <p:ph type="title"/>
          </p:nvPr>
        </p:nvSpPr>
        <p:spPr>
          <a:prstGeom prst="rect">
            <a:avLst/>
          </a:prstGeom>
        </p:spPr>
        <p:txBody>
          <a:bodyPr/>
          <a:lstStyle/>
          <a:p>
            <a:pPr/>
            <a:r>
              <a:t>Characteristics</a:t>
            </a:r>
          </a:p>
        </p:txBody>
      </p:sp>
      <p:sp>
        <p:nvSpPr>
          <p:cNvPr id="196" name="Performance: They have superior performance for querying related data, big or small. A native graph has the so-called index-free adjacency property, where each vertex maintains its neighbor vertices information only, no global index about vertex connecti"/>
          <p:cNvSpPr txBox="1"/>
          <p:nvPr>
            <p:ph type="body" idx="1"/>
          </p:nvPr>
        </p:nvSpPr>
        <p:spPr>
          <a:xfrm>
            <a:off x="1206500" y="2793081"/>
            <a:ext cx="21971000" cy="9388685"/>
          </a:xfrm>
          <a:prstGeom prst="rect">
            <a:avLst/>
          </a:prstGeom>
        </p:spPr>
        <p:txBody>
          <a:bodyPr/>
          <a:lstStyle/>
          <a:p>
            <a:pPr/>
            <a:r>
              <a:rPr b="1"/>
              <a:t>Performance</a:t>
            </a:r>
            <a:r>
              <a:t>: They have superior performance for querying related data, big or small. A native graph has the so-called </a:t>
            </a:r>
            <a:r>
              <a:rPr b="1" i="1">
                <a:solidFill>
                  <a:srgbClr val="0563C1"/>
                </a:solidFill>
              </a:rPr>
              <a:t>index-free adjacency </a:t>
            </a:r>
            <a:r>
              <a:t>property, where each vertex maintains its neighbor vertices information only, no global index about vertex connections exists.</a:t>
            </a:r>
          </a:p>
          <a:p>
            <a:pPr/>
            <a:r>
              <a:rPr b="1"/>
              <a:t>Better Problem Solving</a:t>
            </a:r>
            <a:r>
              <a:t>: Graph databases solve problems that are both impractical and practical for relational queries. Examples include iterative algorithms such as PageRank, gradient descent, and other data mining and machine learning algorithms. </a:t>
            </a:r>
            <a:endParaRPr sz="1200"/>
          </a:p>
          <a:p>
            <a:pPr/>
            <a:r>
              <a:rPr b="1"/>
              <a:t> AI Infrastructure</a:t>
            </a:r>
            <a:r>
              <a:t>: Graph databases serve as great AI infrastructure due to well-structured relational information between entities, which allows one to further infer indirect facts and knowledge. Machine learning experts love them</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Characteristics Continued…"/>
          <p:cNvSpPr txBox="1"/>
          <p:nvPr>
            <p:ph type="title"/>
          </p:nvPr>
        </p:nvSpPr>
        <p:spPr>
          <a:prstGeom prst="rect">
            <a:avLst/>
          </a:prstGeom>
        </p:spPr>
        <p:txBody>
          <a:bodyPr/>
          <a:lstStyle/>
          <a:p>
            <a:pPr/>
            <a:r>
              <a:t>Characteristics Continued…</a:t>
            </a:r>
          </a:p>
        </p:txBody>
      </p:sp>
      <p:sp>
        <p:nvSpPr>
          <p:cNvPr id="199" name="Storage: The underlying storage mechanism of graph databases can vary. Some depend on a relational engine and “store” the graph data in a table .Others use a key-value store or document-oriented database for storage, making them inherently NoSQL structur"/>
          <p:cNvSpPr txBox="1"/>
          <p:nvPr>
            <p:ph type="body" idx="1"/>
          </p:nvPr>
        </p:nvSpPr>
        <p:spPr>
          <a:xfrm>
            <a:off x="1206500" y="3306629"/>
            <a:ext cx="21971000" cy="9244100"/>
          </a:xfrm>
          <a:prstGeom prst="rect">
            <a:avLst/>
          </a:prstGeom>
        </p:spPr>
        <p:txBody>
          <a:bodyPr/>
          <a:lstStyle/>
          <a:p>
            <a:pPr/>
            <a:r>
              <a:rPr b="1"/>
              <a:t>Storage</a:t>
            </a:r>
            <a:r>
              <a:t>: The underlying storage mechanism of graph databases can vary. Some depend on a relational engine and “store” the graph data in</a:t>
            </a:r>
            <a:br/>
            <a:r>
              <a:t>a </a:t>
            </a:r>
            <a:r>
              <a:rPr>
                <a:solidFill>
                  <a:srgbClr val="0563C1"/>
                </a:solidFill>
              </a:rPr>
              <a:t>table </a:t>
            </a:r>
            <a:r>
              <a:t>.Others use a </a:t>
            </a:r>
            <a:r>
              <a:rPr>
                <a:solidFill>
                  <a:srgbClr val="0563C1"/>
                </a:solidFill>
              </a:rPr>
              <a:t>key-value store </a:t>
            </a:r>
            <a:r>
              <a:t>or </a:t>
            </a:r>
            <a:r>
              <a:rPr>
                <a:solidFill>
                  <a:srgbClr val="0563C1"/>
                </a:solidFill>
              </a:rPr>
              <a:t>document-oriented</a:t>
            </a:r>
            <a:br>
              <a:rPr>
                <a:solidFill>
                  <a:srgbClr val="0563C1"/>
                </a:solidFill>
              </a:rPr>
            </a:br>
            <a:r>
              <a:rPr>
                <a:solidFill>
                  <a:srgbClr val="0563C1"/>
                </a:solidFill>
              </a:rPr>
              <a:t>database </a:t>
            </a:r>
            <a:r>
              <a:t>for storage, making them inherently </a:t>
            </a:r>
            <a:r>
              <a:rPr>
                <a:solidFill>
                  <a:srgbClr val="0563C1"/>
                </a:solidFill>
              </a:rPr>
              <a:t>NoSQL </a:t>
            </a:r>
            <a:r>
              <a:t>structures </a:t>
            </a:r>
            <a:endParaRPr sz="1200"/>
          </a:p>
          <a:p>
            <a:pPr/>
            <a:r>
              <a:rPr b="1"/>
              <a:t>Index-Free Adjacency</a:t>
            </a:r>
            <a:r>
              <a:t>: Data lookup performance is dependent on the access speed from one particular node to another. Because </a:t>
            </a:r>
            <a:r>
              <a:rPr>
                <a:solidFill>
                  <a:srgbClr val="0563C1"/>
                </a:solidFill>
              </a:rPr>
              <a:t>index</a:t>
            </a:r>
            <a:r>
              <a:t>-free adjacency enforces the nodes to have direct physical </a:t>
            </a:r>
            <a:r>
              <a:rPr>
                <a:solidFill>
                  <a:srgbClr val="0563C1"/>
                </a:solidFill>
              </a:rPr>
              <a:t>RAM </a:t>
            </a:r>
            <a:r>
              <a:t>addresses and physically point to other adjacent nodes, it results in a fast retrieval.</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Features of Neo4j"/>
          <p:cNvSpPr txBox="1"/>
          <p:nvPr>
            <p:ph type="title"/>
          </p:nvPr>
        </p:nvSpPr>
        <p:spPr>
          <a:prstGeom prst="rect">
            <a:avLst/>
          </a:prstGeom>
        </p:spPr>
        <p:txBody>
          <a:bodyPr/>
          <a:lstStyle/>
          <a:p>
            <a:pPr/>
            <a:r>
              <a:t>Features of Neo4j</a:t>
            </a:r>
          </a:p>
        </p:txBody>
      </p:sp>
      <p:sp>
        <p:nvSpPr>
          <p:cNvPr id="202" name="Cypher, a declarative query language similar to SQL, but optimized for graphs. Now used by other databases like SAP HANA Graph and Redis graph via the openCypher project.…"/>
          <p:cNvSpPr txBox="1"/>
          <p:nvPr>
            <p:ph type="body" idx="1"/>
          </p:nvPr>
        </p:nvSpPr>
        <p:spPr>
          <a:xfrm>
            <a:off x="1206500" y="2818119"/>
            <a:ext cx="21971000" cy="9884772"/>
          </a:xfrm>
          <a:prstGeom prst="rect">
            <a:avLst/>
          </a:prstGeom>
        </p:spPr>
        <p:txBody>
          <a:bodyPr/>
          <a:lstStyle/>
          <a:p>
            <a:pPr/>
            <a:r>
              <a:rPr b="1"/>
              <a:t>Cypher</a:t>
            </a:r>
            <a:r>
              <a:t>, a declarative query language similar to SQL, but optimized for graphs. Now used by other databases like SAP HANA Graph and Redis graph via the </a:t>
            </a:r>
            <a:r>
              <a:rPr b="1">
                <a:solidFill>
                  <a:srgbClr val="0563C1"/>
                </a:solidFill>
              </a:rPr>
              <a:t>openCypher project</a:t>
            </a:r>
            <a:r>
              <a:t>. </a:t>
            </a:r>
            <a:endParaRPr sz="1200"/>
          </a:p>
          <a:p>
            <a:pPr/>
            <a:r>
              <a:rPr b="1"/>
              <a:t>Constant time traversals </a:t>
            </a:r>
            <a:r>
              <a:t>in big graphs for both depth and breadth due to efficient representation of nodes and relationships. Enables scale-up to billions of nodes on moderate hardware. </a:t>
            </a:r>
          </a:p>
          <a:p>
            <a:pPr/>
            <a:r>
              <a:rPr b="1"/>
              <a:t>Flexible </a:t>
            </a:r>
            <a:r>
              <a:t>property graph schema that can adapt over time, making it possible to materialize and add new relationships later to shortcut and speed up the domain data when the business needs change. </a:t>
            </a:r>
          </a:p>
          <a:p>
            <a:pPr/>
            <a:r>
              <a:rPr b="1">
                <a:solidFill>
                  <a:srgbClr val="0563C1"/>
                </a:solidFill>
              </a:rPr>
              <a:t>Drivers </a:t>
            </a:r>
            <a:r>
              <a:t>for popular programming languages, including Java, JavaScript, .NET, Python, and many more. </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Performance"/>
          <p:cNvSpPr txBox="1"/>
          <p:nvPr>
            <p:ph type="title"/>
          </p:nvPr>
        </p:nvSpPr>
        <p:spPr>
          <a:xfrm>
            <a:off x="1206500" y="432810"/>
            <a:ext cx="21971000" cy="1433164"/>
          </a:xfrm>
          <a:prstGeom prst="rect">
            <a:avLst/>
          </a:prstGeom>
        </p:spPr>
        <p:txBody>
          <a:bodyPr/>
          <a:lstStyle/>
          <a:p>
            <a:pPr/>
            <a:r>
              <a:t>Performance</a:t>
            </a:r>
          </a:p>
        </p:txBody>
      </p:sp>
      <p:sp>
        <p:nvSpPr>
          <p:cNvPr id="205" name="The more connected your data is, and the more complex your query is, the faster graph technology is at processing your requests.…"/>
          <p:cNvSpPr txBox="1"/>
          <p:nvPr>
            <p:ph type="body" idx="1"/>
          </p:nvPr>
        </p:nvSpPr>
        <p:spPr>
          <a:xfrm>
            <a:off x="1206500" y="2190227"/>
            <a:ext cx="21971000" cy="9732016"/>
          </a:xfrm>
          <a:prstGeom prst="rect">
            <a:avLst/>
          </a:prstGeom>
        </p:spPr>
        <p:txBody>
          <a:bodyPr/>
          <a:lstStyle/>
          <a:p>
            <a:pPr marL="505968" indent="-505968" defTabSz="2023821">
              <a:spcBef>
                <a:spcPts val="3700"/>
              </a:spcBef>
              <a:defRPr sz="3984"/>
            </a:pPr>
            <a:r>
              <a:t> The more </a:t>
            </a:r>
            <a:r>
              <a:rPr b="1">
                <a:latin typeface="Calibri"/>
                <a:ea typeface="Calibri"/>
                <a:cs typeface="Calibri"/>
                <a:sym typeface="Calibri"/>
              </a:rPr>
              <a:t>connected</a:t>
            </a:r>
            <a:r>
              <a:t> your data is, and the more </a:t>
            </a:r>
            <a:r>
              <a:rPr b="1">
                <a:latin typeface="Calibri"/>
                <a:ea typeface="Calibri"/>
                <a:cs typeface="Calibri"/>
                <a:sym typeface="Calibri"/>
              </a:rPr>
              <a:t>complex</a:t>
            </a:r>
            <a:r>
              <a:t> your query is, the </a:t>
            </a:r>
            <a:r>
              <a:rPr b="1">
                <a:latin typeface="Calibri"/>
                <a:ea typeface="Calibri"/>
                <a:cs typeface="Calibri"/>
                <a:sym typeface="Calibri"/>
              </a:rPr>
              <a:t>faster</a:t>
            </a:r>
            <a:r>
              <a:t> graph technology is at processing your requests.</a:t>
            </a:r>
          </a:p>
          <a:p>
            <a:pPr marL="505968" indent="-505968" defTabSz="2023821">
              <a:spcBef>
                <a:spcPts val="3700"/>
              </a:spcBef>
              <a:defRPr sz="3984"/>
            </a:pPr>
            <a:r>
              <a:t>With</a:t>
            </a:r>
            <a:r>
              <a:rPr b="1">
                <a:latin typeface="Calibri"/>
                <a:ea typeface="Calibri"/>
                <a:cs typeface="Calibri"/>
                <a:sym typeface="Calibri"/>
              </a:rPr>
              <a:t> no need to translate requests</a:t>
            </a:r>
            <a:r>
              <a:t> into non-graph methods or syntax, Neo4j delivers fast, accurate results for even complex queries of connected graph data.</a:t>
            </a:r>
          </a:p>
          <a:p>
            <a:pPr marL="505968" indent="-505968" defTabSz="2023821">
              <a:spcBef>
                <a:spcPts val="3700"/>
              </a:spcBef>
              <a:defRPr sz="3984"/>
            </a:pPr>
            <a:r>
              <a:t>Relational approaches are appropriate for tabular data with static schemas, but not for the demands of </a:t>
            </a:r>
            <a:r>
              <a:rPr b="1">
                <a:latin typeface="Calibri"/>
                <a:ea typeface="Calibri"/>
                <a:cs typeface="Calibri"/>
                <a:sym typeface="Calibri"/>
              </a:rPr>
              <a:t>highly connected or changing datasets</a:t>
            </a:r>
            <a:r>
              <a:t>.</a:t>
            </a:r>
          </a:p>
          <a:p>
            <a:pPr marL="505968" indent="-505968" defTabSz="2023821">
              <a:spcBef>
                <a:spcPts val="3700"/>
              </a:spcBef>
              <a:defRPr sz="3984"/>
            </a:pPr>
            <a:r>
              <a:t>I</a:t>
            </a:r>
            <a:r>
              <a:rPr b="1">
                <a:latin typeface="Calibri"/>
                <a:ea typeface="Calibri"/>
                <a:cs typeface="Calibri"/>
                <a:sym typeface="Calibri"/>
              </a:rPr>
              <a:t>ndex-free adjacency</a:t>
            </a:r>
            <a:r>
              <a:t> to traverse millions of data records with sub-second response times, even when those queries mine data several layers deep. </a:t>
            </a:r>
          </a:p>
          <a:p>
            <a:pPr marL="505968" indent="-505968" defTabSz="2023821">
              <a:spcBef>
                <a:spcPts val="3700"/>
              </a:spcBef>
              <a:defRPr sz="3984"/>
            </a:pPr>
            <a:r>
              <a:t>Graph databases are </a:t>
            </a:r>
            <a:r>
              <a:rPr b="1">
                <a:latin typeface="Calibri"/>
                <a:ea typeface="Calibri"/>
                <a:cs typeface="Calibri"/>
                <a:sym typeface="Calibri"/>
              </a:rPr>
              <a:t>designed to traverse stored data</a:t>
            </a:r>
            <a:r>
              <a:t> very quickly and retrieve results in milliseconds.</a:t>
            </a:r>
          </a:p>
          <a:p>
            <a:pPr marL="505968" indent="-505968" defTabSz="2023821">
              <a:spcBef>
                <a:spcPts val="3700"/>
              </a:spcBef>
              <a:defRPr sz="3984"/>
            </a:pPr>
            <a:r>
              <a:t>Exceed performance expectations when traversing relationships among data for </a:t>
            </a:r>
            <a:r>
              <a:rPr b="1">
                <a:latin typeface="Calibri"/>
                <a:ea typeface="Calibri"/>
                <a:cs typeface="Calibri"/>
                <a:sym typeface="Calibri"/>
              </a:rPr>
              <a:t>data science and analytics</a:t>
            </a:r>
            <a:r>
              <a:t> purposes where decision making is required.</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7" name="Picture 4" descr="Picture 4"/>
          <p:cNvPicPr>
            <a:picLocks noChangeAspect="1"/>
          </p:cNvPicPr>
          <p:nvPr/>
        </p:nvPicPr>
        <p:blipFill>
          <a:blip r:embed="rId2">
            <a:extLst/>
          </a:blip>
          <a:stretch>
            <a:fillRect/>
          </a:stretch>
        </p:blipFill>
        <p:spPr>
          <a:xfrm>
            <a:off x="4253733" y="665754"/>
            <a:ext cx="15876534" cy="10947758"/>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Applications Continued…"/>
          <p:cNvSpPr txBox="1"/>
          <p:nvPr>
            <p:ph type="title"/>
          </p:nvPr>
        </p:nvSpPr>
        <p:spPr>
          <a:xfrm>
            <a:off x="1206500" y="508891"/>
            <a:ext cx="21971000" cy="1433164"/>
          </a:xfrm>
          <a:prstGeom prst="rect">
            <a:avLst/>
          </a:prstGeom>
        </p:spPr>
        <p:txBody>
          <a:bodyPr/>
          <a:lstStyle/>
          <a:p>
            <a:pPr/>
            <a:r>
              <a:t>Applications Continued…</a:t>
            </a:r>
          </a:p>
        </p:txBody>
      </p:sp>
      <p:sp>
        <p:nvSpPr>
          <p:cNvPr id="210" name="The Neo4j graph database platform can be used for a wide variety of business applications, but there are many for which native graph technology is absolutely required to meet performance and reliability requirements. Some samples of those applications ap"/>
          <p:cNvSpPr txBox="1"/>
          <p:nvPr>
            <p:ph type="body" idx="21"/>
          </p:nvPr>
        </p:nvSpPr>
        <p:spPr>
          <a:xfrm>
            <a:off x="1206500" y="1813684"/>
            <a:ext cx="21971000" cy="1143706"/>
          </a:xfrm>
          <a:prstGeom prst="rect">
            <a:avLst/>
          </a:prstGeom>
          <a:extLst>
            <a:ext uri="{C572A759-6A51-4108-AA02-DFA0A04FC94B}">
              <ma14:wrappingTextBoxFlag xmlns:ma14="http://schemas.microsoft.com/office/mac/drawingml/2011/main" val="1"/>
            </a:ext>
          </a:extLst>
        </p:spPr>
        <p:txBody>
          <a:bodyPr/>
          <a:lstStyle>
            <a:lvl1pPr defTabSz="396239">
              <a:defRPr sz="2640"/>
            </a:lvl1pPr>
          </a:lstStyle>
          <a:p>
            <a:pPr/>
            <a:r>
              <a:t>The Neo4j graph database platform can be used for a wide variety of business applications, but there are many for which native graph technology is absolutely required to meet performance and reliability requirements. Some samples of those applications appear below.</a:t>
            </a:r>
          </a:p>
        </p:txBody>
      </p:sp>
      <p:sp>
        <p:nvSpPr>
          <p:cNvPr id="211" name="Retail and E-Commerce (eg : Walmart, fortune 50)…"/>
          <p:cNvSpPr txBox="1"/>
          <p:nvPr>
            <p:ph type="body" idx="1"/>
          </p:nvPr>
        </p:nvSpPr>
        <p:spPr>
          <a:xfrm>
            <a:off x="1206500" y="2924418"/>
            <a:ext cx="21866388" cy="9600879"/>
          </a:xfrm>
          <a:prstGeom prst="rect">
            <a:avLst/>
          </a:prstGeom>
        </p:spPr>
        <p:txBody>
          <a:bodyPr/>
          <a:lstStyle/>
          <a:p>
            <a:pPr marL="0" indent="0" defTabSz="1194786">
              <a:spcBef>
                <a:spcPts val="2200"/>
              </a:spcBef>
              <a:buSzTx/>
              <a:buNone/>
              <a:defRPr b="1" sz="2940"/>
            </a:pPr>
            <a:r>
              <a:t>Retail and E-Commerce (eg : Walmart, fortune 50)</a:t>
            </a:r>
            <a:endParaRPr sz="1029"/>
          </a:p>
          <a:p>
            <a:pPr lvl="1" marL="672084" indent="-373380" defTabSz="1194786">
              <a:spcBef>
                <a:spcPts val="2200"/>
              </a:spcBef>
              <a:defRPr sz="2940"/>
            </a:pPr>
            <a:r>
              <a:t>Purchase history recommendations</a:t>
            </a:r>
            <a:endParaRPr sz="1029"/>
          </a:p>
          <a:p>
            <a:pPr lvl="1" marL="672084" indent="-373380" defTabSz="1194786">
              <a:spcBef>
                <a:spcPts val="2200"/>
              </a:spcBef>
              <a:defRPr sz="2940"/>
            </a:pPr>
            <a:r>
              <a:t>Peer recommendations</a:t>
            </a:r>
            <a:endParaRPr sz="1029"/>
          </a:p>
          <a:p>
            <a:pPr marL="0" indent="0" defTabSz="1194786">
              <a:spcBef>
                <a:spcPts val="2200"/>
              </a:spcBef>
              <a:buSzTx/>
              <a:buNone/>
              <a:defRPr b="1" sz="2940"/>
            </a:pPr>
            <a:r>
              <a:t>Social and Business Networks (eg : LinkedIn, gamesys)</a:t>
            </a:r>
            <a:endParaRPr sz="1029"/>
          </a:p>
          <a:p>
            <a:pPr lvl="1" marL="672084" indent="-373380" defTabSz="1194786">
              <a:spcBef>
                <a:spcPts val="2200"/>
              </a:spcBef>
              <a:defRPr sz="2940"/>
            </a:pPr>
            <a:r>
              <a:t>Friendship and relationship sites</a:t>
            </a:r>
            <a:endParaRPr sz="1029"/>
          </a:p>
          <a:p>
            <a:pPr lvl="1" marL="672084" indent="-373380" defTabSz="1194786">
              <a:spcBef>
                <a:spcPts val="2200"/>
              </a:spcBef>
              <a:defRPr sz="2940"/>
            </a:pPr>
            <a:r>
              <a:t>Professional networks and organizations</a:t>
            </a:r>
            <a:endParaRPr sz="1029"/>
          </a:p>
          <a:p>
            <a:pPr lvl="1" marL="672084" indent="-373380" defTabSz="1194786">
              <a:spcBef>
                <a:spcPts val="2200"/>
              </a:spcBef>
              <a:defRPr sz="2940"/>
            </a:pPr>
            <a:r>
              <a:t>Event recommendation and review sites</a:t>
            </a:r>
            <a:endParaRPr sz="1029"/>
          </a:p>
          <a:p>
            <a:pPr lvl="1" marL="672084" indent="-373380" defTabSz="1194786">
              <a:spcBef>
                <a:spcPts val="2200"/>
              </a:spcBef>
              <a:defRPr sz="2940"/>
            </a:pPr>
            <a:r>
              <a:t>Membership and organization management</a:t>
            </a:r>
            <a:r>
              <a:rPr sz="1029"/>
              <a:t>\</a:t>
            </a:r>
            <a:endParaRPr sz="1029"/>
          </a:p>
          <a:p>
            <a:pPr marL="0" indent="0" defTabSz="1194786">
              <a:spcBef>
                <a:spcPts val="2200"/>
              </a:spcBef>
              <a:buSzTx/>
              <a:buNone/>
              <a:defRPr b="1" sz="2940"/>
            </a:pPr>
            <a:r>
              <a:t>Information Management</a:t>
            </a:r>
            <a:endParaRPr sz="1029"/>
          </a:p>
          <a:p>
            <a:pPr lvl="1" marL="672084" indent="-373380" defTabSz="1194786">
              <a:spcBef>
                <a:spcPts val="2200"/>
              </a:spcBef>
              <a:defRPr sz="2940"/>
            </a:pPr>
            <a:r>
              <a:t>Identity and access management</a:t>
            </a:r>
            <a:endParaRPr sz="1029"/>
          </a:p>
          <a:p>
            <a:pPr lvl="1" marL="672084" indent="-373380" defTabSz="1194786">
              <a:spcBef>
                <a:spcPts val="2200"/>
              </a:spcBef>
              <a:defRPr sz="2940"/>
            </a:pPr>
            <a:r>
              <a:t>Master data management</a:t>
            </a:r>
            <a:endParaRPr sz="1029"/>
          </a:p>
          <a:p>
            <a:pPr lvl="1" marL="672084" indent="-373380" defTabSz="1194786">
              <a:spcBef>
                <a:spcPts val="2200"/>
              </a:spcBef>
              <a:defRPr sz="2940"/>
            </a:pPr>
            <a:r>
              <a:t>Network operations</a:t>
            </a:r>
            <a:endParaRPr sz="1029"/>
          </a:p>
          <a:p>
            <a:pPr lvl="1" marL="672084" indent="-373380" defTabSz="1194786">
              <a:spcBef>
                <a:spcPts val="2200"/>
              </a:spcBef>
              <a:defRPr sz="2940"/>
            </a:pPr>
            <a:r>
              <a:t>Internet of Things and sensor monitoring</a:t>
            </a:r>
            <a:endParaRPr sz="1029"/>
          </a:p>
          <a:p>
            <a:pPr lvl="1" marL="672084" indent="-373380" defTabSz="1194786">
              <a:spcBef>
                <a:spcPts val="2200"/>
              </a:spcBef>
              <a:defRPr sz="2940"/>
            </a:pPr>
            <a:r>
              <a:t>Support case solution</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Applications Continued…"/>
          <p:cNvSpPr txBox="1"/>
          <p:nvPr>
            <p:ph type="title"/>
          </p:nvPr>
        </p:nvSpPr>
        <p:spPr>
          <a:xfrm>
            <a:off x="1206500" y="508891"/>
            <a:ext cx="21971000" cy="1433164"/>
          </a:xfrm>
          <a:prstGeom prst="rect">
            <a:avLst/>
          </a:prstGeom>
        </p:spPr>
        <p:txBody>
          <a:bodyPr/>
          <a:lstStyle/>
          <a:p>
            <a:pPr/>
            <a:r>
              <a:t>Applications Continued…</a:t>
            </a:r>
          </a:p>
        </p:txBody>
      </p:sp>
      <p:sp>
        <p:nvSpPr>
          <p:cNvPr id="214" name="Customer and Sales Management (eg : eBay, medium.com)…"/>
          <p:cNvSpPr txBox="1"/>
          <p:nvPr>
            <p:ph type="body" idx="1"/>
          </p:nvPr>
        </p:nvSpPr>
        <p:spPr>
          <a:xfrm>
            <a:off x="1206500" y="2221261"/>
            <a:ext cx="21866388" cy="10304036"/>
          </a:xfrm>
          <a:prstGeom prst="rect">
            <a:avLst/>
          </a:prstGeom>
        </p:spPr>
        <p:txBody>
          <a:bodyPr/>
          <a:lstStyle/>
          <a:p>
            <a:pPr marL="0" indent="0" defTabSz="1292319">
              <a:spcBef>
                <a:spcPts val="2300"/>
              </a:spcBef>
              <a:buSzTx/>
              <a:buNone/>
              <a:defRPr b="1" sz="3180"/>
            </a:pPr>
            <a:r>
              <a:t>Customer and Sales Management (eg : eBay, </a:t>
            </a:r>
            <a:r>
              <a:rPr u="sng">
                <a:hlinkClick r:id="rId2" invalidUrl="" action="" tgtFrame="" tooltip="" history="1" highlightClick="0" endSnd="0"/>
              </a:rPr>
              <a:t>medium.com</a:t>
            </a:r>
            <a:r>
              <a:t>)</a:t>
            </a:r>
          </a:p>
          <a:p>
            <a:pPr lvl="1" marL="565403" indent="-323087" defTabSz="1292319">
              <a:spcBef>
                <a:spcPts val="2300"/>
              </a:spcBef>
              <a:buClr>
                <a:srgbClr val="000000"/>
              </a:buClr>
              <a:defRPr sz="3180"/>
            </a:pPr>
            <a:r>
              <a:t>Prospect identification</a:t>
            </a:r>
          </a:p>
          <a:p>
            <a:pPr lvl="1" marL="565403" indent="-323087" defTabSz="1292319">
              <a:spcBef>
                <a:spcPts val="2300"/>
              </a:spcBef>
              <a:buClr>
                <a:srgbClr val="000000"/>
              </a:buClr>
              <a:defRPr sz="3180"/>
            </a:pPr>
            <a:r>
              <a:t>Product recommendation </a:t>
            </a:r>
          </a:p>
          <a:p>
            <a:pPr marL="0" indent="0" defTabSz="1292319">
              <a:spcBef>
                <a:spcPts val="2300"/>
              </a:spcBef>
              <a:buSzTx/>
              <a:buNone/>
              <a:defRPr b="1" sz="3180"/>
            </a:pPr>
            <a:r>
              <a:t>Finance (eg : Citi Bank, UBS bank, Global 50 bank) </a:t>
            </a:r>
          </a:p>
          <a:p>
            <a:pPr lvl="1" marL="565403" indent="-323087" defTabSz="1292319">
              <a:spcBef>
                <a:spcPts val="2300"/>
              </a:spcBef>
              <a:buClr>
                <a:srgbClr val="000000"/>
              </a:buClr>
              <a:defRPr sz="3180"/>
            </a:pPr>
            <a:r>
              <a:t>Identity and access management</a:t>
            </a:r>
          </a:p>
          <a:p>
            <a:pPr lvl="1" marL="565403" indent="-323087" defTabSz="1292319">
              <a:spcBef>
                <a:spcPts val="2300"/>
              </a:spcBef>
              <a:buClr>
                <a:srgbClr val="000000"/>
              </a:buClr>
              <a:defRPr sz="3180"/>
            </a:pPr>
            <a:r>
              <a:t>Fraud detection</a:t>
            </a:r>
          </a:p>
          <a:p>
            <a:pPr lvl="1" marL="565403" indent="-323087" defTabSz="1292319">
              <a:spcBef>
                <a:spcPts val="2300"/>
              </a:spcBef>
              <a:buClr>
                <a:srgbClr val="000000"/>
              </a:buClr>
              <a:defRPr sz="3180"/>
            </a:pPr>
            <a:r>
              <a:t>Product and service recommendations</a:t>
            </a:r>
          </a:p>
          <a:p>
            <a:pPr marL="0" indent="0" defTabSz="1292319">
              <a:spcBef>
                <a:spcPts val="2300"/>
              </a:spcBef>
              <a:buSzTx/>
              <a:buNone/>
              <a:defRPr b="1" sz="3180"/>
            </a:pPr>
            <a:r>
              <a:t>Healthcare (eg : Novartis)</a:t>
            </a:r>
          </a:p>
          <a:p>
            <a:pPr lvl="1" marL="565403" indent="-323087" defTabSz="1292319">
              <a:spcBef>
                <a:spcPts val="2300"/>
              </a:spcBef>
              <a:buClr>
                <a:srgbClr val="000000"/>
              </a:buClr>
              <a:defRPr sz="3180"/>
            </a:pPr>
            <a:r>
              <a:t>Care provider recommendations</a:t>
            </a:r>
          </a:p>
          <a:p>
            <a:pPr lvl="1" marL="565403" indent="-323087" defTabSz="1292319">
              <a:spcBef>
                <a:spcPts val="2300"/>
              </a:spcBef>
              <a:buClr>
                <a:srgbClr val="000000"/>
              </a:buClr>
              <a:defRPr sz="3180"/>
            </a:pPr>
            <a:r>
              <a:t>Clinical data analysis and bioinformatics</a:t>
            </a:r>
          </a:p>
          <a:p>
            <a:pPr lvl="1" marL="565403" indent="-323087" defTabSz="1292319">
              <a:spcBef>
                <a:spcPts val="2300"/>
              </a:spcBef>
              <a:buClr>
                <a:srgbClr val="000000"/>
              </a:buClr>
              <a:defRPr sz="3180"/>
            </a:pPr>
            <a:r>
              <a:t>Insurance fraud</a:t>
            </a:r>
          </a:p>
          <a:p>
            <a:pPr marL="0" indent="0" defTabSz="1292319">
              <a:spcBef>
                <a:spcPts val="2300"/>
              </a:spcBef>
              <a:buSzTx/>
              <a:buNone/>
              <a:defRPr b="1" sz="3180"/>
            </a:pPr>
            <a:r>
              <a:t>Logistics (eg : Transparency One, Volvo, Caterpillar, Airbus)</a:t>
            </a:r>
          </a:p>
          <a:p>
            <a:pPr lvl="1" marL="565403" indent="-323087" defTabSz="1292319">
              <a:spcBef>
                <a:spcPts val="2300"/>
              </a:spcBef>
              <a:buClr>
                <a:srgbClr val="000000"/>
              </a:buClr>
              <a:defRPr sz="3180"/>
            </a:pPr>
            <a:r>
              <a:t>Real-time routing</a:t>
            </a:r>
          </a:p>
          <a:p>
            <a:pPr lvl="1" marL="565403" indent="-323087" defTabSz="1292319">
              <a:spcBef>
                <a:spcPts val="2300"/>
              </a:spcBef>
              <a:buClr>
                <a:srgbClr val="000000"/>
              </a:buClr>
              <a:defRPr sz="3180"/>
            </a:pPr>
            <a:r>
              <a:t>Supply-chain management and risk assessment</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Installation of Neo4j"/>
          <p:cNvSpPr txBox="1"/>
          <p:nvPr>
            <p:ph type="title"/>
          </p:nvPr>
        </p:nvSpPr>
        <p:spPr>
          <a:xfrm>
            <a:off x="1206500" y="794195"/>
            <a:ext cx="21971000" cy="1433164"/>
          </a:xfrm>
          <a:prstGeom prst="rect">
            <a:avLst/>
          </a:prstGeom>
        </p:spPr>
        <p:txBody>
          <a:bodyPr/>
          <a:lstStyle/>
          <a:p>
            <a:pPr/>
            <a:r>
              <a:t>Installation of Neo4j</a:t>
            </a:r>
          </a:p>
        </p:txBody>
      </p:sp>
      <p:sp>
        <p:nvSpPr>
          <p:cNvPr id="217" name="Downloa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Download</a:t>
            </a:r>
          </a:p>
        </p:txBody>
      </p:sp>
      <p:sp>
        <p:nvSpPr>
          <p:cNvPr id="218" name="First, download a copy of Neo4j from the Neo4j download page. You can choose from either a free Enterprise Trial, or the free Community Edition.…"/>
          <p:cNvSpPr txBox="1"/>
          <p:nvPr>
            <p:ph type="body" sz="half" idx="1"/>
          </p:nvPr>
        </p:nvSpPr>
        <p:spPr>
          <a:xfrm>
            <a:off x="1206500" y="3744014"/>
            <a:ext cx="21971000" cy="3594260"/>
          </a:xfrm>
          <a:prstGeom prst="rect">
            <a:avLst/>
          </a:prstGeom>
        </p:spPr>
        <p:txBody>
          <a:bodyPr/>
          <a:lstStyle/>
          <a:p>
            <a:pPr marL="524255" indent="-524255" defTabSz="2096971">
              <a:spcBef>
                <a:spcPts val="3800"/>
              </a:spcBef>
              <a:defRPr sz="4128"/>
            </a:pPr>
            <a:r>
              <a:t> First, download a copy of Neo4j from the </a:t>
            </a:r>
            <a:r>
              <a:rPr u="sng">
                <a:solidFill>
                  <a:srgbClr val="0563C1"/>
                </a:solidFill>
                <a:uFill>
                  <a:solidFill>
                    <a:srgbClr val="0563C1"/>
                  </a:solidFill>
                </a:uFill>
                <a:hlinkClick r:id="rId2" invalidUrl="" action="" tgtFrame="" tooltip="" history="1" highlightClick="0" endSnd="0"/>
              </a:rPr>
              <a:t>Neo4j download page</a:t>
            </a:r>
            <a:r>
              <a:t>. You can choose from either a free Enterprise Trial, or the free Community Edition.</a:t>
            </a:r>
          </a:p>
          <a:p>
            <a:pPr marL="524255" indent="-524255" defTabSz="2096971">
              <a:spcBef>
                <a:spcPts val="3800"/>
              </a:spcBef>
              <a:defRPr sz="4128"/>
            </a:pPr>
            <a:r>
              <a:t>This tutorial uses the Community Edition.</a:t>
            </a:r>
          </a:p>
          <a:p>
            <a:pPr marL="524255" indent="-524255" defTabSz="2096971">
              <a:spcBef>
                <a:spcPts val="3800"/>
              </a:spcBef>
              <a:defRPr sz="4128"/>
            </a:pPr>
            <a:r>
              <a:t>To download, simply click the Download button. Your download should start automatically.</a:t>
            </a:r>
          </a:p>
        </p:txBody>
      </p:sp>
      <p:sp>
        <p:nvSpPr>
          <p:cNvPr id="219" name="Installation"/>
          <p:cNvSpPr txBox="1"/>
          <p:nvPr/>
        </p:nvSpPr>
        <p:spPr>
          <a:xfrm>
            <a:off x="1206500" y="7651968"/>
            <a:ext cx="21971000" cy="93478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lgn="l" defTabSz="825500">
              <a:defRPr b="1" sz="5500">
                <a:solidFill>
                  <a:srgbClr val="000000"/>
                </a:solidFill>
              </a:defRPr>
            </a:lvl1pPr>
          </a:lstStyle>
          <a:p>
            <a:pPr/>
            <a:r>
              <a:t>Installation</a:t>
            </a:r>
          </a:p>
        </p:txBody>
      </p:sp>
      <p:sp>
        <p:nvSpPr>
          <p:cNvPr id="220" name="Once the file has downloaded, you can install Neo4j.…"/>
          <p:cNvSpPr txBox="1"/>
          <p:nvPr/>
        </p:nvSpPr>
        <p:spPr>
          <a:xfrm>
            <a:off x="1206500" y="9187635"/>
            <a:ext cx="21971000" cy="297624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609600" indent="-609600" algn="l">
              <a:lnSpc>
                <a:spcPct val="90000"/>
              </a:lnSpc>
              <a:spcBef>
                <a:spcPts val="4500"/>
              </a:spcBef>
              <a:buSzPct val="123000"/>
              <a:buChar char="•"/>
              <a:defRPr sz="4800">
                <a:solidFill>
                  <a:srgbClr val="000000"/>
                </a:solidFill>
              </a:defRPr>
            </a:pPr>
            <a:r>
              <a:t> Once the file has downloaded, you can install Neo4j. </a:t>
            </a:r>
          </a:p>
          <a:p>
            <a:pPr marL="609600" indent="-609600" algn="l">
              <a:lnSpc>
                <a:spcPct val="90000"/>
              </a:lnSpc>
              <a:spcBef>
                <a:spcPts val="4500"/>
              </a:spcBef>
              <a:buSzPct val="123000"/>
              <a:buChar char="•"/>
              <a:defRPr sz="4800">
                <a:solidFill>
                  <a:srgbClr val="000000"/>
                </a:solidFill>
              </a:defRPr>
            </a:pPr>
            <a:r>
              <a:t>The download screen includes step by step instructions on installing Neo4j on to your operating system.</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Title 1"/>
          <p:cNvSpPr txBox="1"/>
          <p:nvPr>
            <p:ph type="title"/>
          </p:nvPr>
        </p:nvSpPr>
        <p:spPr>
          <a:xfrm>
            <a:off x="1676400" y="730250"/>
            <a:ext cx="21031200" cy="1967288"/>
          </a:xfrm>
          <a:prstGeom prst="rect">
            <a:avLst/>
          </a:prstGeom>
        </p:spPr>
        <p:txBody>
          <a:bodyPr/>
          <a:lstStyle>
            <a:lvl1pPr defTabSz="2438338">
              <a:lnSpc>
                <a:spcPct val="80000"/>
              </a:lnSpc>
              <a:defRPr b="1" spc="-232" sz="11600">
                <a:latin typeface="+mn-lt"/>
                <a:ea typeface="+mn-ea"/>
                <a:cs typeface="+mn-cs"/>
                <a:sym typeface="Helvetica Neue"/>
              </a:defRPr>
            </a:lvl1pPr>
          </a:lstStyle>
          <a:p>
            <a:pPr/>
            <a:r>
              <a:t>Windows(exe)</a:t>
            </a:r>
          </a:p>
        </p:txBody>
      </p:sp>
      <p:sp>
        <p:nvSpPr>
          <p:cNvPr id="223" name="Rectangle 1"/>
          <p:cNvSpPr txBox="1"/>
          <p:nvPr/>
        </p:nvSpPr>
        <p:spPr>
          <a:xfrm>
            <a:off x="2067647" y="2928619"/>
            <a:ext cx="20248706" cy="86519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l">
              <a:lnSpc>
                <a:spcPct val="90000"/>
              </a:lnSpc>
              <a:spcBef>
                <a:spcPts val="4500"/>
              </a:spcBef>
              <a:defRPr sz="4800">
                <a:solidFill>
                  <a:srgbClr val="000000"/>
                </a:solidFill>
              </a:defRPr>
            </a:pPr>
            <a:endParaRPr sz="3200">
              <a:solidFill>
                <a:srgbClr val="41484D"/>
              </a:solidFill>
              <a:latin typeface="Source Sans Pro"/>
              <a:ea typeface="Source Sans Pro"/>
              <a:cs typeface="Source Sans Pro"/>
              <a:sym typeface="Source Sans Pro"/>
            </a:endParaRPr>
          </a:p>
          <a:p>
            <a:pPr marL="997527" indent="-997527" algn="l">
              <a:lnSpc>
                <a:spcPct val="90000"/>
              </a:lnSpc>
              <a:spcBef>
                <a:spcPts val="4500"/>
              </a:spcBef>
              <a:buSzPct val="100000"/>
              <a:buAutoNum type="arabicPeriod" startAt="1"/>
              <a:defRPr sz="4800">
                <a:solidFill>
                  <a:srgbClr val="000000"/>
                </a:solidFill>
              </a:defRPr>
            </a:pPr>
            <a:r>
              <a:t>Launch the installer you just downloaded. You might have to give the installer permission to make changes to your computer.</a:t>
            </a:r>
            <a:endParaRPr>
              <a:solidFill>
                <a:srgbClr val="0D0D0D"/>
              </a:solidFill>
              <a:latin typeface="Source Sans Pro"/>
              <a:ea typeface="Source Sans Pro"/>
              <a:cs typeface="Source Sans Pro"/>
              <a:sym typeface="Source Sans Pro"/>
            </a:endParaRPr>
          </a:p>
          <a:p>
            <a:pPr marL="997527" indent="-997527" algn="l">
              <a:lnSpc>
                <a:spcPct val="90000"/>
              </a:lnSpc>
              <a:spcBef>
                <a:spcPts val="4500"/>
              </a:spcBef>
              <a:buSzPct val="100000"/>
              <a:buAutoNum type="arabicPeriod" startAt="1"/>
              <a:defRPr sz="4800">
                <a:solidFill>
                  <a:srgbClr val="000000"/>
                </a:solidFill>
              </a:defRPr>
            </a:pPr>
            <a:r>
              <a:t>Follow the prompts, and choose the option to Run Neo4j.</a:t>
            </a:r>
            <a:endParaRPr>
              <a:solidFill>
                <a:srgbClr val="0D0D0D"/>
              </a:solidFill>
              <a:latin typeface="Source Sans Pro"/>
              <a:ea typeface="Source Sans Pro"/>
              <a:cs typeface="Source Sans Pro"/>
              <a:sym typeface="Source Sans Pro"/>
            </a:endParaRPr>
          </a:p>
          <a:p>
            <a:pPr marL="997527" indent="-997527" algn="l">
              <a:lnSpc>
                <a:spcPct val="90000"/>
              </a:lnSpc>
              <a:spcBef>
                <a:spcPts val="4500"/>
              </a:spcBef>
              <a:buSzPct val="100000"/>
              <a:buAutoNum type="arabicPeriod" startAt="1"/>
              <a:defRPr sz="4800">
                <a:solidFill>
                  <a:srgbClr val="000000"/>
                </a:solidFill>
              </a:defRPr>
            </a:pPr>
            <a:r>
              <a:t>Click on the </a:t>
            </a:r>
            <a:r>
              <a:rPr>
                <a:latin typeface="Arial Unicode MS"/>
                <a:ea typeface="Arial Unicode MS"/>
                <a:cs typeface="Arial Unicode MS"/>
                <a:sym typeface="Arial Unicode MS"/>
              </a:rPr>
              <a:t>Start</a:t>
            </a:r>
            <a:r>
              <a:t> button to start the Neo4j server.</a:t>
            </a:r>
            <a:endParaRPr>
              <a:solidFill>
                <a:srgbClr val="0D0D0D"/>
              </a:solidFill>
              <a:latin typeface="Source Sans Pro"/>
              <a:ea typeface="Source Sans Pro"/>
              <a:cs typeface="Source Sans Pro"/>
              <a:sym typeface="Source Sans Pro"/>
            </a:endParaRPr>
          </a:p>
          <a:p>
            <a:pPr marL="997527" indent="-997527" algn="l">
              <a:lnSpc>
                <a:spcPct val="90000"/>
              </a:lnSpc>
              <a:spcBef>
                <a:spcPts val="4500"/>
              </a:spcBef>
              <a:buSzPct val="100000"/>
              <a:buAutoNum type="arabicPeriod" startAt="1"/>
              <a:defRPr sz="4800">
                <a:solidFill>
                  <a:srgbClr val="000000"/>
                </a:solidFill>
              </a:defRPr>
            </a:pPr>
            <a:r>
              <a:t>Open the provided URL in your local web browser.</a:t>
            </a:r>
            <a:endParaRPr>
              <a:solidFill>
                <a:srgbClr val="0D0D0D"/>
              </a:solidFill>
              <a:latin typeface="Source Sans Pro"/>
              <a:ea typeface="Source Sans Pro"/>
              <a:cs typeface="Source Sans Pro"/>
              <a:sym typeface="Source Sans Pro"/>
            </a:endParaRPr>
          </a:p>
          <a:p>
            <a:pPr marL="997527" indent="-997527" algn="l">
              <a:lnSpc>
                <a:spcPct val="90000"/>
              </a:lnSpc>
              <a:spcBef>
                <a:spcPts val="4500"/>
              </a:spcBef>
              <a:buSzPct val="100000"/>
              <a:buAutoNum type="arabicPeriod" startAt="1"/>
              <a:defRPr sz="4800">
                <a:solidFill>
                  <a:srgbClr val="000000"/>
                </a:solidFill>
              </a:defRPr>
            </a:pPr>
            <a:r>
              <a:t>Change the password for the </a:t>
            </a:r>
            <a:r>
              <a:rPr>
                <a:latin typeface="Arial Unicode MS"/>
                <a:ea typeface="Arial Unicode MS"/>
                <a:cs typeface="Arial Unicode MS"/>
                <a:sym typeface="Arial Unicode MS"/>
              </a:rPr>
              <a:t>neo4j</a:t>
            </a:r>
            <a:r>
              <a:t> account.</a:t>
            </a:r>
            <a:endParaRPr>
              <a:latin typeface="Arial"/>
              <a:ea typeface="Arial"/>
              <a:cs typeface="Arial"/>
              <a:sym typeface="Arial"/>
            </a:endParaRP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Title 1"/>
          <p:cNvSpPr txBox="1"/>
          <p:nvPr>
            <p:ph type="title"/>
          </p:nvPr>
        </p:nvSpPr>
        <p:spPr>
          <a:xfrm>
            <a:off x="1676400" y="730250"/>
            <a:ext cx="21031200" cy="2213246"/>
          </a:xfrm>
          <a:prstGeom prst="rect">
            <a:avLst/>
          </a:prstGeom>
        </p:spPr>
        <p:txBody>
          <a:bodyPr/>
          <a:lstStyle>
            <a:lvl1pPr defTabSz="2438338">
              <a:lnSpc>
                <a:spcPct val="80000"/>
              </a:lnSpc>
              <a:defRPr b="1" spc="-232" sz="11600">
                <a:latin typeface="+mn-lt"/>
                <a:ea typeface="+mn-ea"/>
                <a:cs typeface="+mn-cs"/>
                <a:sym typeface="Helvetica Neue"/>
              </a:defRPr>
            </a:lvl1pPr>
          </a:lstStyle>
          <a:p>
            <a:pPr/>
            <a:r>
              <a:t>Linux/UNIX Install (tar)</a:t>
            </a:r>
          </a:p>
        </p:txBody>
      </p:sp>
      <p:sp>
        <p:nvSpPr>
          <p:cNvPr id="226" name="Content Placeholder 2"/>
          <p:cNvSpPr txBox="1"/>
          <p:nvPr>
            <p:ph type="body" idx="1"/>
          </p:nvPr>
        </p:nvSpPr>
        <p:spPr>
          <a:xfrm>
            <a:off x="1237372" y="3257005"/>
            <a:ext cx="22067956" cy="8666750"/>
          </a:xfrm>
          <a:prstGeom prst="rect">
            <a:avLst/>
          </a:prstGeom>
        </p:spPr>
        <p:txBody>
          <a:bodyPr/>
          <a:lstStyle/>
          <a:p>
            <a:pPr marL="219455" indent="-219455" defTabSz="2340805">
              <a:spcBef>
                <a:spcPts val="4300"/>
              </a:spcBef>
              <a:buFontTx/>
              <a:buAutoNum type="arabicPeriod" startAt="1"/>
              <a:defRPr sz="4608">
                <a:latin typeface="+mn-lt"/>
                <a:ea typeface="+mn-ea"/>
                <a:cs typeface="+mn-cs"/>
                <a:sym typeface="Helvetica Neue"/>
              </a:defRPr>
            </a:pPr>
            <a:r>
              <a:t>Open up your terminal/shell.</a:t>
            </a:r>
          </a:p>
          <a:p>
            <a:pPr marL="219455" indent="-219455" defTabSz="2340805">
              <a:spcBef>
                <a:spcPts val="4300"/>
              </a:spcBef>
              <a:buFontTx/>
              <a:buAutoNum type="arabicPeriod" startAt="1"/>
              <a:defRPr sz="4608">
                <a:latin typeface="+mn-lt"/>
                <a:ea typeface="+mn-ea"/>
                <a:cs typeface="+mn-cs"/>
                <a:sym typeface="Helvetica Neue"/>
              </a:defRPr>
            </a:pPr>
            <a:r>
              <a:t>Extract the contents of the archive, using: tar -xf  &lt;filecode&gt;.</a:t>
            </a:r>
          </a:p>
          <a:p>
            <a:pPr marL="219455" indent="-219455" defTabSz="2340805">
              <a:spcBef>
                <a:spcPts val="4300"/>
              </a:spcBef>
              <a:buFontTx/>
              <a:buAutoNum type="arabicPeriod" startAt="1"/>
              <a:defRPr sz="4608">
                <a:latin typeface="+mn-lt"/>
                <a:ea typeface="+mn-ea"/>
                <a:cs typeface="+mn-cs"/>
                <a:sym typeface="Helvetica Neue"/>
              </a:defRPr>
            </a:pPr>
            <a:r>
              <a:t>For example,</a:t>
            </a:r>
            <a:br/>
            <a:r>
              <a:t>	tar -xf neo4j-enterprise-2.3.1-unix.tar.gz  the top level directory is referred 	to as NEO4J_HOME</a:t>
            </a:r>
          </a:p>
          <a:p>
            <a:pPr marL="219455" indent="-219455" defTabSz="2340805">
              <a:spcBef>
                <a:spcPts val="4300"/>
              </a:spcBef>
              <a:buFontTx/>
              <a:buAutoNum type="arabicPeriod" startAt="1"/>
              <a:defRPr sz="4608">
                <a:latin typeface="+mn-lt"/>
                <a:ea typeface="+mn-ea"/>
                <a:cs typeface="+mn-cs"/>
                <a:sym typeface="Helvetica Neue"/>
              </a:defRPr>
            </a:pPr>
            <a:r>
              <a:t>Run Neo4j using $NEO4J_HOME/bin/neo4j console. Instead of ‘neo4j console’, you can use neo4j start to start the server process in the background.</a:t>
            </a:r>
          </a:p>
          <a:p>
            <a:pPr marL="219455" indent="-219455" defTabSz="2340805">
              <a:spcBef>
                <a:spcPts val="4300"/>
              </a:spcBef>
              <a:buFontTx/>
              <a:buAutoNum type="arabicPeriod" startAt="1"/>
              <a:defRPr sz="4608">
                <a:latin typeface="+mn-lt"/>
                <a:ea typeface="+mn-ea"/>
                <a:cs typeface="+mn-cs"/>
                <a:sym typeface="Helvetica Neue"/>
              </a:defRPr>
            </a:pPr>
            <a:r>
              <a:t>Visit </a:t>
            </a:r>
            <a:r>
              <a:rPr u="sng">
                <a:solidFill>
                  <a:srgbClr val="0563C1"/>
                </a:solidFill>
                <a:uFill>
                  <a:solidFill>
                    <a:srgbClr val="0563C1"/>
                  </a:solidFill>
                </a:uFill>
                <a:hlinkClick r:id="rId2" invalidUrl="" action="" tgtFrame="" tooltip="" history="1" highlightClick="0" endSnd="0"/>
              </a:rPr>
              <a:t>http://localhost:7474</a:t>
            </a:r>
            <a:r>
              <a:t> in your web browser.</a:t>
            </a:r>
          </a:p>
          <a:p>
            <a:pPr marL="219455" indent="-219455" defTabSz="2340805">
              <a:spcBef>
                <a:spcPts val="4300"/>
              </a:spcBef>
              <a:buFontTx/>
              <a:buAutoNum type="arabicPeriod" startAt="1"/>
              <a:defRPr sz="4608">
                <a:latin typeface="+mn-lt"/>
                <a:ea typeface="+mn-ea"/>
                <a:cs typeface="+mn-cs"/>
                <a:sym typeface="Helvetica Neue"/>
              </a:defRPr>
            </a:pPr>
            <a:r>
              <a:t>Change the password for the neo4j account.</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Title 1"/>
          <p:cNvSpPr txBox="1"/>
          <p:nvPr>
            <p:ph type="title"/>
          </p:nvPr>
        </p:nvSpPr>
        <p:spPr>
          <a:xfrm>
            <a:off x="927461" y="609676"/>
            <a:ext cx="21031201" cy="2651126"/>
          </a:xfrm>
          <a:prstGeom prst="rect">
            <a:avLst/>
          </a:prstGeom>
        </p:spPr>
        <p:txBody>
          <a:bodyPr/>
          <a:lstStyle>
            <a:lvl1pPr>
              <a:defRPr sz="7200"/>
            </a:lvl1pPr>
          </a:lstStyle>
          <a:p>
            <a:pPr/>
            <a:r>
              <a:t>Starting and Connecting to the Neo4j </a:t>
            </a:r>
          </a:p>
        </p:txBody>
      </p:sp>
      <p:sp>
        <p:nvSpPr>
          <p:cNvPr id="229" name="Rectangle 2"/>
          <p:cNvSpPr txBox="1"/>
          <p:nvPr/>
        </p:nvSpPr>
        <p:spPr>
          <a:xfrm>
            <a:off x="1194684" y="2936163"/>
            <a:ext cx="4574848" cy="1077934"/>
          </a:xfrm>
          <a:prstGeom prst="rect">
            <a:avLst/>
          </a:prstGeom>
          <a:ln w="12700">
            <a:miter lim="400000"/>
          </a:ln>
          <a:extLst>
            <a:ext uri="{C572A759-6A51-4108-AA02-DFA0A04FC94B}">
              <ma14:wrappingTextBoxFlag xmlns:ma14="http://schemas.microsoft.com/office/mac/drawingml/2011/main" val="1"/>
            </a:ext>
          </a:extLst>
        </p:spPr>
        <p:txBody>
          <a:bodyPr wrap="none" tIns="91439" bIns="91439" anchor="ctr">
            <a:spAutoFit/>
          </a:bodyPr>
          <a:lstStyle>
            <a:lvl1pPr algn="l" defTabSz="1828800">
              <a:tabLst>
                <a:tab pos="812800" algn="l"/>
              </a:tabLst>
              <a:defRPr sz="4400">
                <a:solidFill>
                  <a:srgbClr val="000000"/>
                </a:solidFill>
                <a:latin typeface="Helvetica"/>
                <a:ea typeface="Helvetica"/>
                <a:cs typeface="Helvetica"/>
                <a:sym typeface="Helvetica"/>
              </a:defRPr>
            </a:lvl1pPr>
          </a:lstStyle>
          <a:p>
            <a:pPr/>
            <a:r>
              <a:t>1.Start the Server</a:t>
            </a:r>
            <a:endParaRPr sz="1600">
              <a:latin typeface="Arial"/>
              <a:ea typeface="Arial"/>
              <a:cs typeface="Arial"/>
              <a:sym typeface="Arial"/>
            </a:endParaRPr>
          </a:p>
        </p:txBody>
      </p:sp>
      <p:pic>
        <p:nvPicPr>
          <p:cNvPr id="230" name="Picture 4" descr="Picture 4">
            <a:hlinkClick r:id="rId2" invalidUrl="" action="" tgtFrame="" tooltip="" history="1" highlightClick="0" endSnd="0"/>
          </p:cNvPr>
          <p:cNvPicPr>
            <a:picLocks noChangeAspect="1"/>
          </p:cNvPicPr>
          <p:nvPr/>
        </p:nvPicPr>
        <p:blipFill>
          <a:blip r:embed="rId3">
            <a:extLst/>
          </a:blip>
          <a:stretch>
            <a:fillRect/>
          </a:stretch>
        </p:blipFill>
        <p:spPr>
          <a:xfrm>
            <a:off x="14930845" y="4377435"/>
            <a:ext cx="8934995" cy="5846429"/>
          </a:xfrm>
          <a:prstGeom prst="rect">
            <a:avLst/>
          </a:prstGeom>
          <a:ln w="12700">
            <a:miter lim="400000"/>
          </a:ln>
        </p:spPr>
      </p:pic>
      <p:sp>
        <p:nvSpPr>
          <p:cNvPr id="231" name="Rectangle 3"/>
          <p:cNvSpPr txBox="1"/>
          <p:nvPr/>
        </p:nvSpPr>
        <p:spPr>
          <a:xfrm>
            <a:off x="1018901" y="3353740"/>
            <a:ext cx="13820505" cy="10214740"/>
          </a:xfrm>
          <a:prstGeom prst="rect">
            <a:avLst/>
          </a:prstGeom>
          <a:ln w="12700">
            <a:miter lim="400000"/>
          </a:ln>
          <a:extLst>
            <a:ext uri="{C572A759-6A51-4108-AA02-DFA0A04FC94B}">
              <ma14:wrappingTextBoxFlag xmlns:ma14="http://schemas.microsoft.com/office/mac/drawingml/2011/main" val="1"/>
            </a:ext>
          </a:extLst>
        </p:spPr>
        <p:txBody>
          <a:bodyPr tIns="91439" bIns="91439" anchor="ctr">
            <a:spAutoFit/>
          </a:bodyPr>
          <a:lstStyle/>
          <a:p>
            <a:pPr algn="l" defTabSz="1828800">
              <a:defRPr sz="3000">
                <a:solidFill>
                  <a:srgbClr val="41484D"/>
                </a:solidFill>
                <a:latin typeface="Helvetica"/>
                <a:ea typeface="Helvetica"/>
                <a:cs typeface="Helvetica"/>
                <a:sym typeface="Helvetica"/>
              </a:defRPr>
            </a:pPr>
          </a:p>
          <a:p>
            <a:pPr algn="l" defTabSz="1828800">
              <a:defRPr sz="4000">
                <a:solidFill>
                  <a:srgbClr val="0D0D0D"/>
                </a:solidFill>
                <a:latin typeface="Helvetica"/>
                <a:ea typeface="Helvetica"/>
                <a:cs typeface="Helvetica"/>
                <a:sym typeface="Helvetica"/>
              </a:defRPr>
            </a:pPr>
            <a:r>
              <a:t>The installation instructions include instructions for starting the Neo4j server. The exact method you use will depend on your operating system.</a:t>
            </a:r>
          </a:p>
          <a:p>
            <a:pPr algn="l" defTabSz="1828800">
              <a:defRPr sz="4000">
                <a:solidFill>
                  <a:srgbClr val="0D0D0D"/>
                </a:solidFill>
                <a:latin typeface="Calibri"/>
                <a:ea typeface="Calibri"/>
                <a:cs typeface="Calibri"/>
                <a:sym typeface="Calibri"/>
              </a:defRPr>
            </a:pPr>
          </a:p>
          <a:p>
            <a:pPr algn="l" defTabSz="1828800">
              <a:defRPr sz="4000">
                <a:solidFill>
                  <a:srgbClr val="0D0D0D"/>
                </a:solidFill>
                <a:latin typeface="Helvetica"/>
                <a:ea typeface="Helvetica"/>
                <a:cs typeface="Helvetica"/>
                <a:sym typeface="Helvetica"/>
              </a:defRPr>
            </a:pPr>
            <a:r>
              <a:t>For example, on a Mac, clicking</a:t>
            </a:r>
            <a:r>
              <a:rPr>
                <a:latin typeface="Calibri"/>
                <a:ea typeface="Calibri"/>
                <a:cs typeface="Calibri"/>
                <a:sym typeface="Calibri"/>
              </a:rPr>
              <a:t> </a:t>
            </a:r>
            <a:r>
              <a:rPr>
                <a:latin typeface="Courier New"/>
                <a:ea typeface="Courier New"/>
                <a:cs typeface="Courier New"/>
                <a:sym typeface="Courier New"/>
              </a:rPr>
              <a:t>Neo4j Community Edition</a:t>
            </a:r>
            <a:r>
              <a:rPr>
                <a:latin typeface="Calibri"/>
                <a:ea typeface="Calibri"/>
                <a:cs typeface="Calibri"/>
                <a:sym typeface="Calibri"/>
              </a:rPr>
              <a:t> </a:t>
            </a:r>
            <a:r>
              <a:t>from the</a:t>
            </a:r>
            <a:r>
              <a:rPr>
                <a:latin typeface="Calibri"/>
                <a:ea typeface="Calibri"/>
                <a:cs typeface="Calibri"/>
                <a:sym typeface="Calibri"/>
              </a:rPr>
              <a:t> </a:t>
            </a:r>
            <a:r>
              <a:rPr>
                <a:latin typeface="Courier New"/>
                <a:ea typeface="Courier New"/>
                <a:cs typeface="Courier New"/>
                <a:sym typeface="Courier New"/>
              </a:rPr>
              <a:t>Applications</a:t>
            </a:r>
            <a:r>
              <a:rPr>
                <a:latin typeface="Calibri"/>
                <a:ea typeface="Calibri"/>
                <a:cs typeface="Calibri"/>
                <a:sym typeface="Calibri"/>
              </a:rPr>
              <a:t> </a:t>
            </a:r>
            <a:r>
              <a:t>folder will launch this screen that allows you to start the Neo4j server.</a:t>
            </a:r>
          </a:p>
          <a:p>
            <a:pPr algn="l" defTabSz="1828800">
              <a:defRPr sz="4000">
                <a:solidFill>
                  <a:srgbClr val="0D0D0D"/>
                </a:solidFill>
                <a:latin typeface="Helvetica"/>
                <a:ea typeface="Helvetica"/>
                <a:cs typeface="Helvetica"/>
                <a:sym typeface="Helvetica"/>
              </a:defRPr>
            </a:pPr>
            <a:r>
              <a:t>Once the server has been started, open the following URL in your web browser:</a:t>
            </a:r>
            <a:r>
              <a:rPr>
                <a:latin typeface="Calibri"/>
                <a:ea typeface="Calibri"/>
                <a:cs typeface="Calibri"/>
                <a:sym typeface="Calibri"/>
              </a:rPr>
              <a:t> </a:t>
            </a:r>
            <a:r>
              <a:rPr u="sng">
                <a:solidFill>
                  <a:srgbClr val="0563C1"/>
                </a:solidFill>
                <a:uFill>
                  <a:solidFill>
                    <a:srgbClr val="0563C1"/>
                  </a:solidFill>
                </a:uFill>
                <a:hlinkClick r:id="rId4" invalidUrl="" action="" tgtFrame="" tooltip="" history="1" highlightClick="0" endSnd="0"/>
              </a:rPr>
              <a:t>http://localhost:7474/</a:t>
            </a:r>
            <a:r>
              <a:rPr>
                <a:latin typeface="Calibri"/>
                <a:ea typeface="Calibri"/>
                <a:cs typeface="Calibri"/>
                <a:sym typeface="Calibri"/>
              </a:rPr>
              <a:t> </a:t>
            </a:r>
            <a:r>
              <a:t>and follow the prompts.</a:t>
            </a:r>
          </a:p>
          <a:p>
            <a:pPr algn="l" defTabSz="1828800">
              <a:defRPr sz="4000">
                <a:solidFill>
                  <a:srgbClr val="0D0D0D"/>
                </a:solidFill>
                <a:latin typeface="Helvetica"/>
                <a:ea typeface="Helvetica"/>
                <a:cs typeface="Helvetica"/>
                <a:sym typeface="Helvetica"/>
              </a:defRPr>
            </a:pPr>
            <a:r>
              <a:t>Below are the screens I encountered when logging in for the first time (note that future versions may be different).</a:t>
            </a:r>
          </a:p>
          <a:p>
            <a:pPr algn="l" defTabSz="1828800">
              <a:defRPr sz="3000">
                <a:solidFill>
                  <a:srgbClr val="41484D"/>
                </a:solidFill>
                <a:latin typeface="Helvetica"/>
                <a:ea typeface="Helvetica"/>
                <a:cs typeface="Helvetica"/>
                <a:sym typeface="Helvetica"/>
              </a:defRPr>
            </a:pPr>
          </a:p>
          <a:p>
            <a:pPr algn="l" defTabSz="1828800">
              <a:defRPr sz="3000">
                <a:solidFill>
                  <a:srgbClr val="41484D"/>
                </a:solidFill>
                <a:latin typeface="Helvetica"/>
                <a:ea typeface="Helvetica"/>
                <a:cs typeface="Helvetica"/>
                <a:sym typeface="Helvetica"/>
              </a:defRPr>
            </a:pPr>
          </a:p>
          <a:p>
            <a:pPr algn="l" defTabSz="1828800">
              <a:defRPr sz="3000">
                <a:solidFill>
                  <a:srgbClr val="41484D"/>
                </a:solidFill>
                <a:latin typeface="Helvetica"/>
                <a:ea typeface="Helvetica"/>
                <a:cs typeface="Helvetica"/>
                <a:sym typeface="Helvetica"/>
              </a:defRPr>
            </a:pP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Rectangle 2"/>
          <p:cNvSpPr txBox="1"/>
          <p:nvPr/>
        </p:nvSpPr>
        <p:spPr>
          <a:xfrm>
            <a:off x="1364501" y="934900"/>
            <a:ext cx="10631558" cy="855981"/>
          </a:xfrm>
          <a:prstGeom prst="rect">
            <a:avLst/>
          </a:prstGeom>
          <a:ln w="12700">
            <a:miter lim="400000"/>
          </a:ln>
          <a:extLst>
            <a:ext uri="{C572A759-6A51-4108-AA02-DFA0A04FC94B}">
              <ma14:wrappingTextBoxFlag xmlns:ma14="http://schemas.microsoft.com/office/mac/drawingml/2011/main" val="1"/>
            </a:ext>
          </a:extLst>
        </p:spPr>
        <p:txBody>
          <a:bodyPr tIns="91439" bIns="91439" anchor="ctr">
            <a:spAutoFit/>
          </a:bodyPr>
          <a:lstStyle>
            <a:lvl1pPr algn="l" defTabSz="1828800">
              <a:tabLst>
                <a:tab pos="812800" algn="l"/>
              </a:tabLst>
              <a:defRPr sz="4400">
                <a:solidFill>
                  <a:srgbClr val="000000"/>
                </a:solidFill>
                <a:latin typeface="Helvetica"/>
                <a:ea typeface="Helvetica"/>
                <a:cs typeface="Helvetica"/>
                <a:sym typeface="Helvetica"/>
              </a:defRPr>
            </a:lvl1pPr>
          </a:lstStyle>
          <a:p>
            <a:pPr/>
            <a:r>
              <a:t>2.Connect to Neo4j</a:t>
            </a:r>
          </a:p>
        </p:txBody>
      </p:sp>
      <p:pic>
        <p:nvPicPr>
          <p:cNvPr id="234" name="Picture 3" descr="Picture 3">
            <a:hlinkClick r:id="rId2" invalidUrl="" action="" tgtFrame="" tooltip="" history="1" highlightClick="0" endSnd="0"/>
          </p:cNvPr>
          <p:cNvPicPr>
            <a:picLocks noChangeAspect="1"/>
          </p:cNvPicPr>
          <p:nvPr/>
        </p:nvPicPr>
        <p:blipFill>
          <a:blip r:embed="rId3">
            <a:extLst/>
          </a:blip>
          <a:stretch>
            <a:fillRect/>
          </a:stretch>
        </p:blipFill>
        <p:spPr>
          <a:xfrm>
            <a:off x="12923519" y="1362892"/>
            <a:ext cx="10380620" cy="5670551"/>
          </a:xfrm>
          <a:prstGeom prst="rect">
            <a:avLst/>
          </a:prstGeom>
          <a:ln w="12700">
            <a:miter lim="400000"/>
          </a:ln>
        </p:spPr>
      </p:pic>
      <p:sp>
        <p:nvSpPr>
          <p:cNvPr id="235" name="Rectangle 3"/>
          <p:cNvSpPr txBox="1"/>
          <p:nvPr/>
        </p:nvSpPr>
        <p:spPr>
          <a:xfrm>
            <a:off x="1519645" y="1592295"/>
            <a:ext cx="11138263" cy="1764428"/>
          </a:xfrm>
          <a:prstGeom prst="rect">
            <a:avLst/>
          </a:prstGeom>
          <a:ln w="12700">
            <a:miter lim="400000"/>
          </a:ln>
          <a:extLst>
            <a:ext uri="{C572A759-6A51-4108-AA02-DFA0A04FC94B}">
              <ma14:wrappingTextBoxFlag xmlns:ma14="http://schemas.microsoft.com/office/mac/drawingml/2011/main" val="1"/>
            </a:ext>
          </a:extLst>
        </p:spPr>
        <p:txBody>
          <a:bodyPr tIns="91439" bIns="91439" anchor="ctr">
            <a:spAutoFit/>
          </a:bodyPr>
          <a:lstStyle/>
          <a:p>
            <a:pPr algn="l" defTabSz="1828800">
              <a:defRPr sz="3000">
                <a:solidFill>
                  <a:srgbClr val="41484D"/>
                </a:solidFill>
                <a:latin typeface="Helvetica"/>
                <a:ea typeface="Helvetica"/>
                <a:cs typeface="Helvetica"/>
                <a:sym typeface="Helvetica"/>
              </a:defRPr>
            </a:pPr>
          </a:p>
          <a:p>
            <a:pPr algn="l" defTabSz="1828800">
              <a:defRPr sz="3600">
                <a:solidFill>
                  <a:srgbClr val="41484D"/>
                </a:solidFill>
                <a:latin typeface="Helvetica"/>
                <a:ea typeface="Helvetica"/>
                <a:cs typeface="Helvetica"/>
                <a:sym typeface="Helvetica"/>
              </a:defRPr>
            </a:pPr>
            <a:r>
              <a:t>You can either create an account for the cloud service or click</a:t>
            </a:r>
            <a:r>
              <a:rPr>
                <a:latin typeface="Calibri"/>
                <a:ea typeface="Calibri"/>
                <a:cs typeface="Calibri"/>
                <a:sym typeface="Calibri"/>
              </a:rPr>
              <a:t> </a:t>
            </a:r>
            <a:r>
              <a:rPr>
                <a:latin typeface="Courier New"/>
                <a:ea typeface="Courier New"/>
                <a:cs typeface="Courier New"/>
                <a:sym typeface="Courier New"/>
              </a:rPr>
              <a:t>No thanks</a:t>
            </a:r>
          </a:p>
        </p:txBody>
      </p:sp>
      <p:sp>
        <p:nvSpPr>
          <p:cNvPr id="236" name="Rectangle 5"/>
          <p:cNvSpPr txBox="1"/>
          <p:nvPr/>
        </p:nvSpPr>
        <p:spPr>
          <a:xfrm>
            <a:off x="1364501" y="7585772"/>
            <a:ext cx="2215229" cy="1077933"/>
          </a:xfrm>
          <a:prstGeom prst="rect">
            <a:avLst/>
          </a:prstGeom>
          <a:ln w="12700">
            <a:miter lim="400000"/>
          </a:ln>
          <a:extLst>
            <a:ext uri="{C572A759-6A51-4108-AA02-DFA0A04FC94B}">
              <ma14:wrappingTextBoxFlag xmlns:ma14="http://schemas.microsoft.com/office/mac/drawingml/2011/main" val="1"/>
            </a:ext>
          </a:extLst>
        </p:spPr>
        <p:txBody>
          <a:bodyPr wrap="none" tIns="91439" bIns="91439" anchor="ctr">
            <a:spAutoFit/>
          </a:bodyPr>
          <a:lstStyle>
            <a:lvl1pPr algn="l" defTabSz="1828800">
              <a:tabLst>
                <a:tab pos="812800" algn="l"/>
              </a:tabLst>
              <a:defRPr sz="4400">
                <a:solidFill>
                  <a:srgbClr val="000000"/>
                </a:solidFill>
                <a:latin typeface="Helvetica"/>
                <a:ea typeface="Helvetica"/>
                <a:cs typeface="Helvetica"/>
                <a:sym typeface="Helvetica"/>
              </a:defRPr>
            </a:lvl1pPr>
          </a:lstStyle>
          <a:p>
            <a:pPr/>
            <a:r>
              <a:t>3.Log In</a:t>
            </a:r>
            <a:endParaRPr sz="1600">
              <a:latin typeface="Arial"/>
              <a:ea typeface="Arial"/>
              <a:cs typeface="Arial"/>
              <a:sym typeface="Arial"/>
            </a:endParaRPr>
          </a:p>
        </p:txBody>
      </p:sp>
      <p:pic>
        <p:nvPicPr>
          <p:cNvPr id="237" name="Picture 2" descr="Picture 2">
            <a:hlinkClick r:id="rId4" invalidUrl="" action="" tgtFrame="" tooltip="" history="1" highlightClick="0" endSnd="0"/>
          </p:cNvPr>
          <p:cNvPicPr>
            <a:picLocks noChangeAspect="1"/>
          </p:cNvPicPr>
          <p:nvPr/>
        </p:nvPicPr>
        <p:blipFill>
          <a:blip r:embed="rId5">
            <a:extLst/>
          </a:blip>
          <a:stretch>
            <a:fillRect/>
          </a:stretch>
        </p:blipFill>
        <p:spPr>
          <a:xfrm>
            <a:off x="12923519" y="7416851"/>
            <a:ext cx="10380620" cy="5576570"/>
          </a:xfrm>
          <a:prstGeom prst="rect">
            <a:avLst/>
          </a:prstGeom>
          <a:ln w="12700">
            <a:miter lim="400000"/>
          </a:ln>
        </p:spPr>
      </p:pic>
      <p:sp>
        <p:nvSpPr>
          <p:cNvPr id="238" name="Rectangle 6"/>
          <p:cNvSpPr txBox="1"/>
          <p:nvPr/>
        </p:nvSpPr>
        <p:spPr>
          <a:xfrm>
            <a:off x="1519645" y="7381896"/>
            <a:ext cx="11138263" cy="3916681"/>
          </a:xfrm>
          <a:prstGeom prst="rect">
            <a:avLst/>
          </a:prstGeom>
          <a:ln w="12700">
            <a:miter lim="400000"/>
          </a:ln>
          <a:extLst>
            <a:ext uri="{C572A759-6A51-4108-AA02-DFA0A04FC94B}">
              <ma14:wrappingTextBoxFlag xmlns:ma14="http://schemas.microsoft.com/office/mac/drawingml/2011/main" val="1"/>
            </a:ext>
          </a:extLst>
        </p:spPr>
        <p:txBody>
          <a:bodyPr tIns="91439" bIns="91439" anchor="ctr">
            <a:spAutoFit/>
          </a:bodyPr>
          <a:lstStyle/>
          <a:p>
            <a:pPr algn="l" defTabSz="1828800">
              <a:defRPr sz="3000">
                <a:solidFill>
                  <a:srgbClr val="41484D"/>
                </a:solidFill>
                <a:latin typeface="Helvetica"/>
                <a:ea typeface="Helvetica"/>
                <a:cs typeface="Helvetica"/>
                <a:sym typeface="Helvetica"/>
              </a:defRPr>
            </a:pPr>
          </a:p>
          <a:p>
            <a:pPr algn="l" defTabSz="1828800">
              <a:defRPr sz="3600">
                <a:solidFill>
                  <a:srgbClr val="41484D"/>
                </a:solidFill>
                <a:latin typeface="Helvetica"/>
                <a:ea typeface="Helvetica"/>
                <a:cs typeface="Helvetica"/>
                <a:sym typeface="Helvetica"/>
              </a:defRPr>
            </a:pPr>
          </a:p>
          <a:p>
            <a:pPr algn="l" defTabSz="1828800">
              <a:defRPr sz="3600">
                <a:solidFill>
                  <a:srgbClr val="0D0D0D"/>
                </a:solidFill>
                <a:latin typeface="Helvetica"/>
                <a:ea typeface="Helvetica"/>
                <a:cs typeface="Helvetica"/>
                <a:sym typeface="Helvetica"/>
              </a:defRPr>
            </a:pPr>
            <a:r>
              <a:t>Log in using the username and password provided on </a:t>
            </a:r>
          </a:p>
          <a:p>
            <a:pPr algn="l" defTabSz="1828800">
              <a:defRPr sz="3600">
                <a:solidFill>
                  <a:srgbClr val="0D0D0D"/>
                </a:solidFill>
                <a:latin typeface="Helvetica"/>
                <a:ea typeface="Helvetica"/>
                <a:cs typeface="Helvetica"/>
                <a:sym typeface="Helvetica"/>
              </a:defRPr>
            </a:pPr>
            <a:r>
              <a:t>the screen.</a:t>
            </a:r>
          </a:p>
          <a:p>
            <a:pPr algn="l" defTabSz="1828800">
              <a:defRPr sz="3600">
                <a:solidFill>
                  <a:srgbClr val="0D0D0D"/>
                </a:solidFill>
                <a:latin typeface="Helvetica"/>
                <a:ea typeface="Helvetica"/>
                <a:cs typeface="Helvetica"/>
                <a:sym typeface="Helvetica"/>
              </a:defRPr>
            </a:pPr>
          </a:p>
          <a:p>
            <a:pPr algn="l" defTabSz="1828800">
              <a:defRPr sz="3600">
                <a:solidFill>
                  <a:srgbClr val="0D0D0D"/>
                </a:solidFill>
                <a:latin typeface="Helvetica"/>
                <a:ea typeface="Helvetica"/>
                <a:cs typeface="Helvetica"/>
                <a:sym typeface="Helvetica"/>
              </a:defRPr>
            </a:pPr>
            <a:r>
              <a:t>The first time you log in you will be prompted to change your password</a:t>
            </a:r>
            <a:r>
              <a:rPr>
                <a:solidFill>
                  <a:srgbClr val="41484D"/>
                </a:solidFill>
              </a:rPr>
              <a:t>.</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Rectangle 2"/>
          <p:cNvSpPr txBox="1"/>
          <p:nvPr/>
        </p:nvSpPr>
        <p:spPr>
          <a:xfrm>
            <a:off x="1939268" y="621362"/>
            <a:ext cx="13883948" cy="3770334"/>
          </a:xfrm>
          <a:prstGeom prst="rect">
            <a:avLst/>
          </a:prstGeom>
          <a:ln w="12700">
            <a:miter lim="400000"/>
          </a:ln>
          <a:extLst>
            <a:ext uri="{C572A759-6A51-4108-AA02-DFA0A04FC94B}">
              <ma14:wrappingTextBoxFlag xmlns:ma14="http://schemas.microsoft.com/office/mac/drawingml/2011/main" val="1"/>
            </a:ext>
          </a:extLst>
        </p:spPr>
        <p:txBody>
          <a:bodyPr tIns="91439" bIns="91439" anchor="ctr">
            <a:spAutoFit/>
          </a:bodyPr>
          <a:lstStyle/>
          <a:p>
            <a:pPr algn="l" defTabSz="1828800">
              <a:tabLst>
                <a:tab pos="812800" algn="l"/>
              </a:tabLst>
              <a:defRPr sz="4400">
                <a:solidFill>
                  <a:srgbClr val="000000"/>
                </a:solidFill>
                <a:latin typeface="Helvetica"/>
                <a:ea typeface="Helvetica"/>
                <a:cs typeface="Helvetica"/>
                <a:sym typeface="Helvetica"/>
              </a:defRPr>
            </a:pPr>
            <a:r>
              <a:t>4.The Result</a:t>
            </a:r>
            <a:endParaRPr sz="1600">
              <a:latin typeface="Arial"/>
              <a:ea typeface="Arial"/>
              <a:cs typeface="Arial"/>
              <a:sym typeface="Arial"/>
            </a:endParaRPr>
          </a:p>
          <a:p>
            <a:pPr algn="l" defTabSz="1828800">
              <a:tabLst>
                <a:tab pos="812800" algn="l"/>
              </a:tabLst>
              <a:defRPr sz="3600">
                <a:solidFill>
                  <a:srgbClr val="41484D"/>
                </a:solidFill>
                <a:latin typeface="Helvetica"/>
                <a:ea typeface="Helvetica"/>
                <a:cs typeface="Helvetica"/>
                <a:sym typeface="Helvetica"/>
              </a:defRPr>
            </a:pPr>
          </a:p>
          <a:p>
            <a:pPr algn="l" defTabSz="1828800">
              <a:tabLst>
                <a:tab pos="812800" algn="l"/>
              </a:tabLst>
              <a:defRPr sz="3600">
                <a:solidFill>
                  <a:srgbClr val="0D0D0D"/>
                </a:solidFill>
                <a:latin typeface="Helvetica"/>
                <a:ea typeface="Helvetica"/>
                <a:cs typeface="Helvetica"/>
                <a:sym typeface="Helvetica"/>
              </a:defRPr>
            </a:pPr>
            <a:r>
              <a:t>Once the password has been changed, this screen is displayed</a:t>
            </a:r>
            <a:r>
              <a:rPr sz="3000"/>
              <a:t>.</a:t>
            </a:r>
            <a:endParaRPr>
              <a:latin typeface="Arial"/>
              <a:ea typeface="Arial"/>
              <a:cs typeface="Arial"/>
              <a:sym typeface="Arial"/>
            </a:endParaRPr>
          </a:p>
          <a:p>
            <a:pPr algn="l" defTabSz="1828800">
              <a:tabLst>
                <a:tab pos="812800" algn="l"/>
              </a:tabLst>
              <a:defRPr sz="3600">
                <a:solidFill>
                  <a:srgbClr val="0D0D0D"/>
                </a:solidFill>
                <a:latin typeface="Arial"/>
                <a:ea typeface="Arial"/>
                <a:cs typeface="Arial"/>
                <a:sym typeface="Arial"/>
              </a:defRPr>
            </a:pPr>
          </a:p>
          <a:p>
            <a:pPr algn="l" defTabSz="1828800">
              <a:tabLst>
                <a:tab pos="812800" algn="l"/>
              </a:tabLst>
              <a:defRPr sz="3600">
                <a:solidFill>
                  <a:srgbClr val="0D0D0D"/>
                </a:solidFill>
                <a:latin typeface="Arial"/>
                <a:ea typeface="Arial"/>
                <a:cs typeface="Arial"/>
                <a:sym typeface="Arial"/>
              </a:defRPr>
            </a:pPr>
            <a:r>
              <a:t>Here, you can use the links to learn more about Neo4j and how to create databases and run queries.</a:t>
            </a:r>
            <a:r>
              <a:rPr sz="3000">
                <a:latin typeface="Helvetica"/>
                <a:ea typeface="Helvetica"/>
                <a:cs typeface="Helvetica"/>
                <a:sym typeface="Helvetica"/>
              </a:rPr>
              <a:t> </a:t>
            </a:r>
            <a:endParaRPr sz="1600"/>
          </a:p>
        </p:txBody>
      </p:sp>
      <p:pic>
        <p:nvPicPr>
          <p:cNvPr id="241" name="Picture 1" descr="Picture 1">
            <a:hlinkClick r:id="rId2" invalidUrl="" action="" tgtFrame="" tooltip="" history="1" highlightClick="0" endSnd="0"/>
          </p:cNvPr>
          <p:cNvPicPr>
            <a:picLocks noChangeAspect="1"/>
          </p:cNvPicPr>
          <p:nvPr/>
        </p:nvPicPr>
        <p:blipFill>
          <a:blip r:embed="rId3">
            <a:extLst/>
          </a:blip>
          <a:stretch>
            <a:fillRect/>
          </a:stretch>
        </p:blipFill>
        <p:spPr>
          <a:xfrm>
            <a:off x="1672046" y="4789713"/>
            <a:ext cx="17957072" cy="7443294"/>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Title 1"/>
          <p:cNvSpPr txBox="1"/>
          <p:nvPr>
            <p:ph type="title"/>
          </p:nvPr>
        </p:nvSpPr>
        <p:spPr>
          <a:xfrm>
            <a:off x="1676400" y="730251"/>
            <a:ext cx="21031200" cy="1742983"/>
          </a:xfrm>
          <a:prstGeom prst="rect">
            <a:avLst/>
          </a:prstGeom>
        </p:spPr>
        <p:txBody>
          <a:bodyPr/>
          <a:lstStyle>
            <a:lvl1pPr>
              <a:defRPr sz="8000"/>
            </a:lvl1pPr>
          </a:lstStyle>
          <a:p>
            <a:pPr/>
            <a:r>
              <a:t>Operations in Neo4j</a:t>
            </a:r>
          </a:p>
        </p:txBody>
      </p:sp>
      <p:sp>
        <p:nvSpPr>
          <p:cNvPr id="244" name="Rectangle 2"/>
          <p:cNvSpPr txBox="1"/>
          <p:nvPr/>
        </p:nvSpPr>
        <p:spPr>
          <a:xfrm>
            <a:off x="1767841" y="2851834"/>
            <a:ext cx="20073256" cy="12750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algn="l" defTabSz="1828800">
              <a:defRPr sz="3600">
                <a:solidFill>
                  <a:srgbClr val="0D0D0D"/>
                </a:solidFill>
                <a:latin typeface="Source Sans Pro"/>
                <a:ea typeface="Source Sans Pro"/>
                <a:cs typeface="Source Sans Pro"/>
                <a:sym typeface="Source Sans Pro"/>
              </a:defRPr>
            </a:pPr>
            <a:r>
              <a:t>Neo4j has its own query language called Cypher. Cypher uses a similar syntax to </a:t>
            </a:r>
            <a:r>
              <a:rPr u="sng">
                <a:solidFill>
                  <a:srgbClr val="0563C1"/>
                </a:solidFill>
                <a:uFill>
                  <a:solidFill>
                    <a:srgbClr val="0563C1"/>
                  </a:solidFill>
                </a:uFill>
                <a:hlinkClick r:id="rId2" invalidUrl="" action="" tgtFrame="" tooltip="" history="1" highlightClick="0" endSnd="0"/>
              </a:rPr>
              <a:t>SQL</a:t>
            </a:r>
            <a:r>
              <a:t> (Structured Query Language).</a:t>
            </a:r>
          </a:p>
        </p:txBody>
      </p:sp>
      <p:sp>
        <p:nvSpPr>
          <p:cNvPr id="245" name="Rectangle 1"/>
          <p:cNvSpPr/>
          <p:nvPr/>
        </p:nvSpPr>
        <p:spPr>
          <a:xfrm>
            <a:off x="1693818" y="4118089"/>
            <a:ext cx="19781520" cy="2441224"/>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tIns="91439" bIns="91439" anchor="ctr">
            <a:spAutoFit/>
          </a:bodyPr>
          <a:lstStyle/>
          <a:p>
            <a:pPr algn="l" defTabSz="1828800">
              <a:defRPr sz="3800">
                <a:solidFill>
                  <a:srgbClr val="0D0D0D"/>
                </a:solidFill>
                <a:latin typeface="Source Sans Pro"/>
                <a:ea typeface="Source Sans Pro"/>
                <a:cs typeface="Source Sans Pro"/>
                <a:sym typeface="Source Sans Pro"/>
              </a:defRPr>
            </a:pPr>
            <a:r>
              <a:t>To create nodes and relationships using Cypher, use the </a:t>
            </a:r>
            <a:r>
              <a:rPr>
                <a:latin typeface="Monaco"/>
                <a:ea typeface="Monaco"/>
                <a:cs typeface="Monaco"/>
                <a:sym typeface="Monaco"/>
              </a:rPr>
              <a:t>CREATE</a:t>
            </a:r>
            <a:r>
              <a:t> statement.</a:t>
            </a:r>
            <a:endParaRPr>
              <a:latin typeface="Arial"/>
              <a:ea typeface="Arial"/>
              <a:cs typeface="Arial"/>
              <a:sym typeface="Arial"/>
            </a:endParaRPr>
          </a:p>
          <a:p>
            <a:pPr algn="l" defTabSz="1828800">
              <a:defRPr sz="3800">
                <a:solidFill>
                  <a:srgbClr val="0D0D0D"/>
                </a:solidFill>
                <a:latin typeface="Arial"/>
                <a:ea typeface="Arial"/>
                <a:cs typeface="Arial"/>
                <a:sym typeface="Arial"/>
              </a:defRPr>
            </a:pPr>
          </a:p>
          <a:p>
            <a:pPr algn="l" defTabSz="1828800">
              <a:defRPr sz="3800">
                <a:solidFill>
                  <a:srgbClr val="0D0D0D"/>
                </a:solidFill>
                <a:latin typeface="Arial"/>
                <a:ea typeface="Arial"/>
                <a:cs typeface="Arial"/>
                <a:sym typeface="Arial"/>
              </a:defRPr>
            </a:pPr>
            <a:r>
              <a:t>Creating a Node: </a:t>
            </a:r>
          </a:p>
          <a:p>
            <a:pPr algn="l" defTabSz="1828800">
              <a:defRPr sz="3600">
                <a:solidFill>
                  <a:srgbClr val="0D0D0D"/>
                </a:solidFill>
                <a:latin typeface="Arial"/>
                <a:ea typeface="Arial"/>
                <a:cs typeface="Arial"/>
                <a:sym typeface="Arial"/>
              </a:defRPr>
            </a:pPr>
            <a:r>
              <a:t>	</a:t>
            </a:r>
            <a:r>
              <a:rPr>
                <a:solidFill>
                  <a:srgbClr val="C00000"/>
                </a:solidFill>
              </a:rPr>
              <a:t>CREATE (a:Artist { Name : "Strapping Young Lad" })</a:t>
            </a:r>
          </a:p>
        </p:txBody>
      </p:sp>
      <p:sp>
        <p:nvSpPr>
          <p:cNvPr id="246" name="Rectangle 2"/>
          <p:cNvSpPr txBox="1"/>
          <p:nvPr/>
        </p:nvSpPr>
        <p:spPr>
          <a:xfrm>
            <a:off x="3156857" y="7471255"/>
            <a:ext cx="9172807" cy="5226542"/>
          </a:xfrm>
          <a:prstGeom prst="rect">
            <a:avLst/>
          </a:prstGeom>
          <a:ln w="12700">
            <a:miter lim="400000"/>
          </a:ln>
          <a:extLst>
            <a:ext uri="{C572A759-6A51-4108-AA02-DFA0A04FC94B}">
              <ma14:wrappingTextBoxFlag xmlns:ma14="http://schemas.microsoft.com/office/mac/drawingml/2011/main" val="1"/>
            </a:ext>
          </a:extLst>
        </p:spPr>
        <p:txBody>
          <a:bodyPr wrap="none" tIns="91439" bIns="91439" anchor="ctr">
            <a:spAutoFit/>
          </a:bodyPr>
          <a:lstStyle/>
          <a:p>
            <a:pPr algn="l" defTabSz="1828800">
              <a:defRPr sz="2200">
                <a:solidFill>
                  <a:srgbClr val="000000"/>
                </a:solidFill>
                <a:latin typeface="Arial"/>
                <a:ea typeface="Arial"/>
                <a:cs typeface="Arial"/>
                <a:sym typeface="Arial"/>
              </a:defRPr>
            </a:pPr>
            <a:r>
              <a:t>   Once Neo4j has created the node, you should see a message like this:</a:t>
            </a:r>
          </a:p>
          <a:p>
            <a:pPr algn="l" defTabSz="1828800">
              <a:defRPr sz="3600">
                <a:solidFill>
                  <a:srgbClr val="000000"/>
                </a:solidFill>
                <a:latin typeface="Arial"/>
                <a:ea typeface="Arial"/>
                <a:cs typeface="Arial"/>
                <a:sym typeface="Arial"/>
              </a:defRPr>
            </a:pPr>
            <a:r>
              <a:t>  </a:t>
            </a:r>
            <a:r>
              <a:rPr sz="33200"/>
              <a:t> </a:t>
            </a:r>
          </a:p>
        </p:txBody>
      </p:sp>
      <p:pic>
        <p:nvPicPr>
          <p:cNvPr id="247" name="Picture 3" descr="Picture 3"/>
          <p:cNvPicPr>
            <a:picLocks noChangeAspect="1"/>
          </p:cNvPicPr>
          <p:nvPr/>
        </p:nvPicPr>
        <p:blipFill>
          <a:blip r:embed="rId3">
            <a:extLst/>
          </a:blip>
          <a:stretch>
            <a:fillRect/>
          </a:stretch>
        </p:blipFill>
        <p:spPr>
          <a:xfrm>
            <a:off x="3359877" y="7832724"/>
            <a:ext cx="13012238" cy="5295903"/>
          </a:xfrm>
          <a:prstGeom prst="rect">
            <a:avLst/>
          </a:prstGeom>
          <a:ln w="12700">
            <a:miter lim="400000"/>
          </a:ln>
        </p:spPr>
      </p:pic>
      <p:pic>
        <p:nvPicPr>
          <p:cNvPr id="248" name="Picture 5" descr="Picture 5"/>
          <p:cNvPicPr>
            <a:picLocks noChangeAspect="1"/>
          </p:cNvPicPr>
          <p:nvPr/>
        </p:nvPicPr>
        <p:blipFill>
          <a:blip r:embed="rId4">
            <a:extLst/>
          </a:blip>
          <a:stretch>
            <a:fillRect/>
          </a:stretch>
        </p:blipFill>
        <p:spPr>
          <a:xfrm>
            <a:off x="16979357" y="5115717"/>
            <a:ext cx="2133601" cy="2152653"/>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0" name="Rectangle 2"/>
          <p:cNvSpPr txBox="1"/>
          <p:nvPr/>
        </p:nvSpPr>
        <p:spPr>
          <a:xfrm>
            <a:off x="1168782" y="828098"/>
            <a:ext cx="18891412" cy="37642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algn="l" defTabSz="1828800">
              <a:defRPr sz="5600">
                <a:solidFill>
                  <a:srgbClr val="000000"/>
                </a:solidFill>
                <a:latin typeface="Kadwa"/>
                <a:ea typeface="Kadwa"/>
                <a:cs typeface="Kadwa"/>
                <a:sym typeface="Kadwa"/>
              </a:defRPr>
            </a:pPr>
            <a:r>
              <a:t>Displaying the Node</a:t>
            </a:r>
          </a:p>
          <a:p>
            <a:pPr algn="l" defTabSz="1828800">
              <a:defRPr sz="3600">
                <a:solidFill>
                  <a:srgbClr val="000000"/>
                </a:solidFill>
                <a:latin typeface="Kadwa"/>
                <a:ea typeface="Kadwa"/>
                <a:cs typeface="Kadwa"/>
                <a:sym typeface="Kadwa"/>
              </a:defRPr>
            </a:pPr>
          </a:p>
          <a:p>
            <a:pPr algn="l" defTabSz="1828800">
              <a:defRPr sz="3600">
                <a:solidFill>
                  <a:srgbClr val="C00000"/>
                </a:solidFill>
                <a:latin typeface="Kadwa"/>
                <a:ea typeface="Kadwa"/>
                <a:cs typeface="Kadwa"/>
                <a:sym typeface="Kadwa"/>
              </a:defRPr>
            </a:pPr>
            <a:r>
              <a:t>CREATE (b:Album { Name : "Heavy as a Really Heavy Thing", Released : "1995" })</a:t>
            </a:r>
          </a:p>
          <a:p>
            <a:pPr algn="l" defTabSz="1828800">
              <a:defRPr sz="3600">
                <a:solidFill>
                  <a:srgbClr val="C00000"/>
                </a:solidFill>
                <a:latin typeface="Kadwa"/>
                <a:ea typeface="Kadwa"/>
                <a:cs typeface="Kadwa"/>
                <a:sym typeface="Kadwa"/>
              </a:defRPr>
            </a:pPr>
            <a:r>
              <a:t>RETURN b</a:t>
            </a:r>
          </a:p>
          <a:p>
            <a:pPr algn="l" defTabSz="1828800">
              <a:defRPr sz="3600">
                <a:solidFill>
                  <a:srgbClr val="000000"/>
                </a:solidFill>
                <a:latin typeface="Kadwa"/>
                <a:ea typeface="Kadwa"/>
                <a:cs typeface="Kadwa"/>
                <a:sym typeface="Kadwa"/>
              </a:defRPr>
            </a:pPr>
          </a:p>
        </p:txBody>
      </p:sp>
      <p:sp>
        <p:nvSpPr>
          <p:cNvPr id="251" name="Rectangle 1"/>
          <p:cNvSpPr/>
          <p:nvPr/>
        </p:nvSpPr>
        <p:spPr>
          <a:xfrm>
            <a:off x="1216678" y="3877403"/>
            <a:ext cx="14511000" cy="1241148"/>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tIns="91439" bIns="91439" anchor="ctr">
            <a:spAutoFit/>
          </a:bodyPr>
          <a:lstStyle/>
          <a:p>
            <a:pPr algn="l" defTabSz="1828800">
              <a:defRPr sz="3200">
                <a:solidFill>
                  <a:srgbClr val="0D0D0D"/>
                </a:solidFill>
                <a:latin typeface="Source Sans Pro"/>
                <a:ea typeface="Source Sans Pro"/>
                <a:cs typeface="Source Sans Pro"/>
                <a:sym typeface="Source Sans Pro"/>
              </a:defRPr>
            </a:pPr>
            <a:r>
              <a:t>The </a:t>
            </a:r>
            <a:r>
              <a:rPr>
                <a:latin typeface="Monaco"/>
                <a:ea typeface="Monaco"/>
                <a:cs typeface="Monaco"/>
                <a:sym typeface="Monaco"/>
              </a:rPr>
              <a:t>CREATE</a:t>
            </a:r>
            <a:r>
              <a:t> statement </a:t>
            </a:r>
            <a:r>
              <a:rPr i="1"/>
              <a:t>creates</a:t>
            </a:r>
            <a:r>
              <a:t> the node but it doesn't </a:t>
            </a:r>
            <a:r>
              <a:rPr i="1"/>
              <a:t>display</a:t>
            </a:r>
            <a:r>
              <a:t> the node.</a:t>
            </a:r>
            <a:endParaRPr>
              <a:latin typeface="Arial"/>
              <a:ea typeface="Arial"/>
              <a:cs typeface="Arial"/>
              <a:sym typeface="Arial"/>
            </a:endParaRPr>
          </a:p>
          <a:p>
            <a:pPr algn="l" defTabSz="1828800">
              <a:defRPr sz="3200">
                <a:solidFill>
                  <a:srgbClr val="0D0D0D"/>
                </a:solidFill>
                <a:latin typeface="Source Sans Pro"/>
                <a:ea typeface="Source Sans Pro"/>
                <a:cs typeface="Source Sans Pro"/>
                <a:sym typeface="Source Sans Pro"/>
              </a:defRPr>
            </a:pPr>
            <a:r>
              <a:t>To display the node, you need to follow it up with a </a:t>
            </a:r>
            <a:r>
              <a:rPr>
                <a:latin typeface="Monaco"/>
                <a:ea typeface="Monaco"/>
                <a:cs typeface="Monaco"/>
                <a:sym typeface="Monaco"/>
              </a:rPr>
              <a:t>RETURN</a:t>
            </a:r>
            <a:r>
              <a:t> statement.</a:t>
            </a:r>
          </a:p>
        </p:txBody>
      </p:sp>
      <p:sp>
        <p:nvSpPr>
          <p:cNvPr id="252" name="Rectangle 4"/>
          <p:cNvSpPr txBox="1"/>
          <p:nvPr/>
        </p:nvSpPr>
        <p:spPr>
          <a:xfrm>
            <a:off x="1168783" y="6025110"/>
            <a:ext cx="18035450" cy="5991283"/>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algn="l" defTabSz="1828800">
              <a:defRPr sz="6400">
                <a:solidFill>
                  <a:srgbClr val="0D0D0D"/>
                </a:solidFill>
                <a:latin typeface="Calibri"/>
                <a:ea typeface="Calibri"/>
                <a:cs typeface="Calibri"/>
                <a:sym typeface="Calibri"/>
              </a:defRPr>
            </a:pPr>
            <a:r>
              <a:t>Creating Relation between Nodes</a:t>
            </a:r>
          </a:p>
          <a:p>
            <a:pPr algn="l" defTabSz="1828800">
              <a:defRPr sz="3600">
                <a:solidFill>
                  <a:srgbClr val="0D0D0D"/>
                </a:solidFill>
                <a:latin typeface="Calibri"/>
                <a:ea typeface="Calibri"/>
                <a:cs typeface="Calibri"/>
                <a:sym typeface="Calibri"/>
              </a:defRPr>
            </a:pPr>
          </a:p>
          <a:p>
            <a:pPr algn="l" defTabSz="1828800">
              <a:defRPr sz="3600">
                <a:solidFill>
                  <a:srgbClr val="C00000"/>
                </a:solidFill>
                <a:latin typeface="Calibri"/>
                <a:ea typeface="Calibri"/>
                <a:cs typeface="Calibri"/>
                <a:sym typeface="Calibri"/>
              </a:defRPr>
            </a:pPr>
            <a:r>
              <a:t>MATCH (a:Artist),(b:Album)</a:t>
            </a:r>
          </a:p>
          <a:p>
            <a:pPr algn="l" defTabSz="1828800">
              <a:defRPr sz="3600">
                <a:solidFill>
                  <a:srgbClr val="C00000"/>
                </a:solidFill>
                <a:latin typeface="Calibri"/>
                <a:ea typeface="Calibri"/>
                <a:cs typeface="Calibri"/>
                <a:sym typeface="Calibri"/>
              </a:defRPr>
            </a:pPr>
            <a:r>
              <a:t>WHERE a.Name = "Strapping Young Lad" AND b.Name = "Heavy as a Really Heavy Thing"</a:t>
            </a:r>
          </a:p>
          <a:p>
            <a:pPr algn="l" defTabSz="1828800">
              <a:defRPr sz="3600">
                <a:solidFill>
                  <a:srgbClr val="C00000"/>
                </a:solidFill>
                <a:latin typeface="Calibri"/>
                <a:ea typeface="Calibri"/>
                <a:cs typeface="Calibri"/>
                <a:sym typeface="Calibri"/>
              </a:defRPr>
            </a:pPr>
            <a:r>
              <a:t>CREATE (a)-[r:RELEASED]-&gt;(b)</a:t>
            </a:r>
          </a:p>
          <a:p>
            <a:pPr algn="l" defTabSz="1828800">
              <a:defRPr sz="3600">
                <a:solidFill>
                  <a:srgbClr val="C00000"/>
                </a:solidFill>
                <a:latin typeface="Calibri"/>
                <a:ea typeface="Calibri"/>
                <a:cs typeface="Calibri"/>
                <a:sym typeface="Calibri"/>
              </a:defRPr>
            </a:pPr>
            <a:r>
              <a:t>RETURN r</a:t>
            </a:r>
          </a:p>
          <a:p>
            <a:pPr algn="l" defTabSz="1828800">
              <a:defRPr sz="3600">
                <a:solidFill>
                  <a:srgbClr val="000000"/>
                </a:solidFill>
                <a:latin typeface="Arial"/>
                <a:ea typeface="Arial"/>
                <a:cs typeface="Arial"/>
                <a:sym typeface="Arial"/>
              </a:defRPr>
            </a:pPr>
            <a:r>
              <a:t>It creates the following relationship:  </a:t>
            </a:r>
            <a:r>
              <a:rPr sz="14200"/>
              <a:t> </a:t>
            </a:r>
          </a:p>
        </p:txBody>
      </p:sp>
      <p:sp>
        <p:nvSpPr>
          <p:cNvPr id="253" name="Rectangle 2"/>
          <p:cNvSpPr txBox="1"/>
          <p:nvPr/>
        </p:nvSpPr>
        <p:spPr>
          <a:xfrm>
            <a:off x="230775" y="-911752"/>
            <a:ext cx="696624" cy="2206684"/>
          </a:xfrm>
          <a:prstGeom prst="rect">
            <a:avLst/>
          </a:prstGeom>
          <a:ln w="12700">
            <a:miter lim="400000"/>
          </a:ln>
          <a:extLst>
            <a:ext uri="{C572A759-6A51-4108-AA02-DFA0A04FC94B}">
              <ma14:wrappingTextBoxFlag xmlns:ma14="http://schemas.microsoft.com/office/mac/drawingml/2011/main" val="1"/>
            </a:ext>
          </a:extLst>
        </p:spPr>
        <p:txBody>
          <a:bodyPr wrap="none" tIns="91439" bIns="91439" anchor="ctr">
            <a:spAutoFit/>
          </a:bodyPr>
          <a:lstStyle>
            <a:lvl1pPr algn="l" defTabSz="1828800">
              <a:defRPr sz="14200">
                <a:solidFill>
                  <a:srgbClr val="000000"/>
                </a:solidFill>
                <a:latin typeface="Arial"/>
                <a:ea typeface="Arial"/>
                <a:cs typeface="Arial"/>
                <a:sym typeface="Arial"/>
              </a:defRPr>
            </a:lvl1pPr>
          </a:lstStyle>
          <a:p>
            <a:pPr/>
            <a:r>
              <a:t> </a:t>
            </a:r>
          </a:p>
        </p:txBody>
      </p:sp>
      <p:pic>
        <p:nvPicPr>
          <p:cNvPr id="254" name="Picture 3" descr="Picture 3"/>
          <p:cNvPicPr>
            <a:picLocks noChangeAspect="1"/>
          </p:cNvPicPr>
          <p:nvPr/>
        </p:nvPicPr>
        <p:blipFill>
          <a:blip r:embed="rId2">
            <a:extLst/>
          </a:blip>
          <a:stretch>
            <a:fillRect/>
          </a:stretch>
        </p:blipFill>
        <p:spPr>
          <a:xfrm>
            <a:off x="10762252" y="9871567"/>
            <a:ext cx="7353301" cy="2266953"/>
          </a:xfrm>
          <a:prstGeom prst="rect">
            <a:avLst/>
          </a:prstGeom>
          <a:ln w="12700">
            <a:miter lim="400000"/>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References"/>
          <p:cNvSpPr txBox="1"/>
          <p:nvPr>
            <p:ph type="title"/>
          </p:nvPr>
        </p:nvSpPr>
        <p:spPr>
          <a:prstGeom prst="rect">
            <a:avLst/>
          </a:prstGeom>
        </p:spPr>
        <p:txBody>
          <a:bodyPr/>
          <a:lstStyle/>
          <a:p>
            <a:pPr/>
            <a:r>
              <a:t>References</a:t>
            </a:r>
          </a:p>
        </p:txBody>
      </p:sp>
      <p:sp>
        <p:nvSpPr>
          <p:cNvPr id="257" name="https://en.wikipedia.org/wiki/Graph_database…"/>
          <p:cNvSpPr txBox="1"/>
          <p:nvPr>
            <p:ph type="body" idx="1"/>
          </p:nvPr>
        </p:nvSpPr>
        <p:spPr>
          <a:xfrm>
            <a:off x="1206500" y="2729994"/>
            <a:ext cx="21971000" cy="8256012"/>
          </a:xfrm>
          <a:prstGeom prst="rect">
            <a:avLst/>
          </a:prstGeom>
        </p:spPr>
        <p:txBody>
          <a:bodyPr/>
          <a:lstStyle/>
          <a:p>
            <a:pPr marL="536447" indent="-536447" defTabSz="2145738">
              <a:spcBef>
                <a:spcPts val="3900"/>
              </a:spcBef>
              <a:defRPr sz="4224"/>
            </a:pPr>
            <a:r>
              <a:t> </a:t>
            </a:r>
            <a:r>
              <a:rPr u="sng">
                <a:hlinkClick r:id="rId2" invalidUrl="" action="" tgtFrame="" tooltip="" history="1" highlightClick="0" endSnd="0"/>
              </a:rPr>
              <a:t>https://en.wikipedia.org/wiki/Graph_database</a:t>
            </a:r>
            <a:endParaRPr u="sng"/>
          </a:p>
          <a:p>
            <a:pPr marL="536447" indent="-536447" defTabSz="2145738">
              <a:spcBef>
                <a:spcPts val="3900"/>
              </a:spcBef>
              <a:defRPr sz="4224" u="sng"/>
            </a:pPr>
            <a:r>
              <a:rPr>
                <a:hlinkClick r:id="rId3" invalidUrl="" action="" tgtFrame="" tooltip="" history="1" highlightClick="0" endSnd="0"/>
              </a:rPr>
              <a:t>https://neo4j.com/news/relational-vs-graph-databases/</a:t>
            </a:r>
          </a:p>
          <a:p>
            <a:pPr marL="536447" indent="-536447" defTabSz="2145738">
              <a:spcBef>
                <a:spcPts val="3900"/>
              </a:spcBef>
              <a:defRPr sz="4224" u="sng"/>
            </a:pPr>
            <a:r>
              <a:rPr>
                <a:hlinkClick r:id="rId4" invalidUrl="" action="" tgtFrame="" tooltip="" history="1" highlightClick="0" endSnd="0"/>
              </a:rPr>
              <a:t>https://sdtimes.com/databases/guest-view-relational-vs-graph-databases-use/</a:t>
            </a:r>
          </a:p>
          <a:p>
            <a:pPr marL="536447" indent="-536447" defTabSz="2145738">
              <a:spcBef>
                <a:spcPts val="3900"/>
              </a:spcBef>
              <a:defRPr sz="4224" u="sng"/>
            </a:pPr>
            <a:r>
              <a:rPr>
                <a:hlinkClick r:id="rId5" invalidUrl="" action="" tgtFrame="" tooltip="" history="1" highlightClick="0" endSnd="0"/>
              </a:rPr>
              <a:t>https://neo4j.com/blog/why-graph-databases-are-the-future/</a:t>
            </a:r>
          </a:p>
          <a:p>
            <a:pPr marL="536447" indent="-536447" defTabSz="2145738">
              <a:spcBef>
                <a:spcPts val="3900"/>
              </a:spcBef>
              <a:defRPr sz="4224" u="sng"/>
            </a:pPr>
            <a:r>
              <a:rPr>
                <a:hlinkClick r:id="rId6" invalidUrl="" action="" tgtFrame="" tooltip="" history="1" highlightClick="0" endSnd="0"/>
              </a:rPr>
              <a:t>https://towardsdatascience.com/graph-databases-whats-the-big-deal-ec310b1bc0ed</a:t>
            </a:r>
          </a:p>
          <a:p>
            <a:pPr marL="536447" indent="-536447" defTabSz="2145738">
              <a:spcBef>
                <a:spcPts val="3900"/>
              </a:spcBef>
              <a:defRPr sz="4224" u="sng"/>
            </a:pPr>
            <a:r>
              <a:rPr>
                <a:hlinkClick r:id="rId5" invalidUrl="" action="" tgtFrame="" tooltip="" history="1" highlightClick="0" endSnd="0"/>
              </a:rPr>
              <a:t>https://neo4j.com/blog/why-graph-databases-are-the-future/</a:t>
            </a:r>
          </a:p>
          <a:p>
            <a:pPr marL="536447" indent="-536447" defTabSz="2145738">
              <a:spcBef>
                <a:spcPts val="3900"/>
              </a:spcBef>
              <a:defRPr sz="4224" u="sng"/>
            </a:pPr>
            <a:r>
              <a:rPr>
                <a:hlinkClick r:id="rId7" invalidUrl="" action="" tgtFrame="" tooltip="" history="1" highlightClick="0" endSnd="0"/>
              </a:rPr>
              <a:t>https://neo4j.com/customers/?ref=home</a:t>
            </a:r>
          </a:p>
          <a:p>
            <a:pPr marL="536447" indent="-536447" defTabSz="2145738">
              <a:spcBef>
                <a:spcPts val="3900"/>
              </a:spcBef>
              <a:defRPr sz="4224" u="sng"/>
            </a:pPr>
            <a:r>
              <a:t>https://en.wikipedia.org/wiki/Neo4j</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